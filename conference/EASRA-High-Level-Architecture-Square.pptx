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EASRA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B8CDEA"/>
                </a:solidFill>
                <a:latin typeface="Segoe UI"/>
              </a:rPr>
              <a:t>Enterprise AI Systems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B8CDEA"/>
                </a:solidFill>
                <a:latin typeface="Segoe UI"/>
              </a:rPr>
              <a:t>16 layers  ·  4 trust boundaries  ·  3 planes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87552"/>
            <a:ext cx="8503920" cy="41148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>
                <a:solidFill>
                  <a:srgbClr val="0B3D91"/>
                </a:solidFill>
                <a:latin typeface="Segoe UI"/>
              </a:rPr>
              <a:t>Enterprise Users  ·  Web  ·  Mobile  ·  API  ·  Chat  · 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36192"/>
            <a:ext cx="658368" cy="671576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" y="1536192"/>
            <a:ext cx="4312310" cy="671576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Channels &amp; UX</a:t>
            </a:r>
          </a:p>
          <a:p>
            <a:pPr algn="l"/>
            <a:r>
              <a:rPr sz="900">
                <a:solidFill>
                  <a:srgbClr val="0B3D91"/>
                </a:solidFill>
                <a:latin typeface="Segoe UI"/>
              </a:rPr>
              <a:t>Web · Mobile · API · Chat · Voice ·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271776"/>
            <a:ext cx="658368" cy="671576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" y="2271776"/>
            <a:ext cx="4312310" cy="671576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Edge · Gateway · Identity</a:t>
            </a:r>
          </a:p>
          <a:p>
            <a:pPr algn="l"/>
            <a:r>
              <a:rPr sz="900">
                <a:solidFill>
                  <a:srgbClr val="0B3D91"/>
                </a:solidFill>
                <a:latin typeface="Segoe UI"/>
              </a:rPr>
              <a:t>CDN · WAF · LB · Gateway · OIDC · Rate limit · Session · Validator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07360"/>
            <a:ext cx="658368" cy="671576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" y="3007360"/>
            <a:ext cx="4312310" cy="671576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AI Orchestration</a:t>
            </a:r>
          </a:p>
          <a:p>
            <a:pPr algn="l"/>
            <a:r>
              <a:rPr sz="900">
                <a:solidFill>
                  <a:srgbClr val="1B2A3A"/>
                </a:solidFill>
                <a:latin typeface="Segoe UI"/>
              </a:rPr>
              <a:t>Router · Single agent · Multi-agent · Planner /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742944"/>
            <a:ext cx="658368" cy="671576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" y="3742944"/>
            <a:ext cx="4312310" cy="671576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Prompt Intelligence</a:t>
            </a:r>
          </a:p>
          <a:p>
            <a:pPr algn="l"/>
            <a:r>
              <a:rPr sz="900">
                <a:solidFill>
                  <a:srgbClr val="1B2A3A"/>
                </a:solidFill>
                <a:latin typeface="Segoe UI"/>
              </a:rPr>
              <a:t>Context builder · Prompt builder · Prompt registry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478528"/>
            <a:ext cx="658368" cy="671576"/>
          </a:xfrm>
          <a:prstGeom prst="roundRect">
            <a:avLst/>
          </a:prstGeom>
          <a:solidFill>
            <a:srgbClr val="16A085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L4·L5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" y="4478528"/>
            <a:ext cx="4312310" cy="671576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L4 Memory  |  L5 Knowledge &amp; Retrieval</a:t>
            </a:r>
          </a:p>
          <a:p>
            <a:pPr algn="l"/>
            <a:r>
              <a:rPr sz="900">
                <a:solidFill>
                  <a:srgbClr val="0B5C4B"/>
                </a:solidFill>
                <a:latin typeface="Segoe UI"/>
              </a:rPr>
              <a:t>Short/Long/Session/Semantic memory  ||  Vector · BM25 · SQL · Graph · Reranker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214112"/>
            <a:ext cx="658368" cy="671576"/>
          </a:xfrm>
          <a:prstGeom prst="roundRect">
            <a:avLst/>
          </a:prstGeom>
          <a:solidFill>
            <a:srgbClr val="8E44AD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" y="5214112"/>
            <a:ext cx="4312310" cy="671576"/>
          </a:xfrm>
          <a:prstGeom prst="roundRect">
            <a:avLst/>
          </a:prstGeom>
          <a:solidFill>
            <a:srgbClr val="F5EA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4A1E5C"/>
                </a:solidFill>
                <a:latin typeface="Segoe UI"/>
              </a:rPr>
              <a:t>AI Models &amp; Model Router</a:t>
            </a:r>
          </a:p>
          <a:p>
            <a:pPr algn="l"/>
            <a:r>
              <a:rPr sz="900">
                <a:solidFill>
                  <a:srgbClr val="4A1E5C"/>
                </a:solidFill>
                <a:latin typeface="Segoe UI"/>
              </a:rPr>
              <a:t>Router (capability · cost · latency · policy) · Foundation + specialised ·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949696"/>
            <a:ext cx="658368" cy="671576"/>
          </a:xfrm>
          <a:prstGeom prst="roundRect">
            <a:avLst/>
          </a:prstGeom>
          <a:solidFill>
            <a:srgbClr val="16A085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" y="5949696"/>
            <a:ext cx="4312310" cy="671576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5C4B"/>
                </a:solidFill>
                <a:latin typeface="Segoe UI"/>
              </a:rPr>
              <a:t>Tooling &amp; Actions (MCP)</a:t>
            </a:r>
          </a:p>
          <a:p>
            <a:pPr algn="l"/>
            <a:r>
              <a:rPr sz="900">
                <a:solidFill>
                  <a:srgbClr val="0B5C4B"/>
                </a:solidFill>
                <a:latin typeface="Segoe UI"/>
              </a:rPr>
              <a:t>Tool router · MCP · Enterprise APIs · Impact-class enforcer · Registry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6685280"/>
            <a:ext cx="658368" cy="671576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" y="6685280"/>
            <a:ext cx="4312310" cy="671576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Guardrails &amp; Safety</a:t>
            </a:r>
          </a:p>
          <a:p>
            <a:pPr algn="l"/>
            <a:r>
              <a:rPr sz="900">
                <a:solidFill>
                  <a:srgbClr val="6B1A11"/>
                </a:solidFill>
                <a:latin typeface="Segoe UI"/>
              </a:rPr>
              <a:t>Input · Prompt · Tool-arg · Output guardrails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7420864"/>
            <a:ext cx="658368" cy="671576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" y="7420864"/>
            <a:ext cx="4312310" cy="671576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Verification &amp; Streaming</a:t>
            </a:r>
          </a:p>
          <a:p>
            <a:pPr algn="l"/>
            <a:r>
              <a:rPr sz="900">
                <a:solidFill>
                  <a:srgbClr val="6B1A11"/>
                </a:solidFill>
                <a:latin typeface="Segoe UI"/>
              </a:rPr>
              <a:t>Grounding · Citation · Factuality · Format · Policy · Safety  →  Formatter ·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3598" y="1508760"/>
            <a:ext cx="33503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6470"/>
                </a:solidFill>
                <a:latin typeface="Segoe UI"/>
              </a:rPr>
              <a:t>CROSS-CUTTING PLANES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73598" y="1783080"/>
            <a:ext cx="658368" cy="1508760"/>
          </a:xfrm>
          <a:prstGeom prst="roundRect">
            <a:avLst/>
          </a:prstGeom>
          <a:solidFill>
            <a:srgbClr val="B58900"/>
          </a:solidFill>
          <a:ln w="63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6830" y="1783080"/>
            <a:ext cx="2637130" cy="150876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5A4200"/>
                </a:solidFill>
                <a:latin typeface="Segoe UI"/>
              </a:rPr>
              <a:t>Observability</a:t>
            </a:r>
          </a:p>
          <a:p>
            <a:pPr algn="l"/>
            <a:r>
              <a:rPr sz="900">
                <a:solidFill>
                  <a:srgbClr val="5A4200"/>
                </a:solidFill>
                <a:latin typeface="Segoe UI"/>
              </a:rPr>
              <a:t>OTel  ·  Traces · Metrics · Logs  ·  Tokens · Latency · Cost  ·  Agent/Prompt/Tool trace  · 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73598" y="3383280"/>
            <a:ext cx="658368" cy="1508760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6830" y="3383280"/>
            <a:ext cx="2637130" cy="150876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6B1A11"/>
                </a:solidFill>
                <a:latin typeface="Segoe UI"/>
              </a:rPr>
              <a:t>Security &amp; Zero Trust</a:t>
            </a:r>
          </a:p>
          <a:p>
            <a:pPr algn="l"/>
            <a:r>
              <a:rPr sz="900">
                <a:solidFill>
                  <a:srgbClr val="6B1A11"/>
                </a:solidFill>
                <a:latin typeface="Segoe UI"/>
              </a:rPr>
              <a:t>AuthN · AuthZ  ·  Secrets · Encryption  ·  PII  ·  Policy engine  ·  Audit  ·  Compliance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73598" y="4983480"/>
            <a:ext cx="658368" cy="150876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L14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6830" y="4983480"/>
            <a:ext cx="2637130" cy="150876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1B2A3A"/>
                </a:solidFill>
                <a:latin typeface="Segoe UI"/>
              </a:rPr>
              <a:t>Governance · Risk · Compliance</a:t>
            </a:r>
          </a:p>
          <a:p>
            <a:pPr algn="l"/>
            <a:r>
              <a:rPr sz="900">
                <a:solidFill>
                  <a:srgbClr val="1B2A3A"/>
                </a:solidFill>
                <a:latin typeface="Segoe UI"/>
              </a:rPr>
              <a:t>Policy engine · Registries · NIST AI RMF · ISO 42001 · EU AI Act · OWASP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73598" y="6583680"/>
            <a:ext cx="658368" cy="1508760"/>
          </a:xfrm>
          <a:prstGeom prst="roundRect">
            <a:avLst/>
          </a:prstGeom>
          <a:solidFill>
            <a:srgbClr val="3B7DDD"/>
          </a:solidFill>
          <a:ln w="635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6830" y="6583680"/>
            <a:ext cx="2637130" cy="1508760"/>
          </a:xfrm>
          <a:prstGeom prst="roundRect">
            <a:avLst/>
          </a:prstGeom>
          <a:solidFill>
            <a:srgbClr val="EAF3FF"/>
          </a:solidFill>
          <a:ln w="15875">
            <a:solidFill>
              <a:srgbClr val="3B7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100" b="1">
                <a:solidFill>
                  <a:srgbClr val="0B3D91"/>
                </a:solidFill>
                <a:latin typeface="Segoe UI"/>
              </a:rPr>
              <a:t>Business Outcomes &amp; Value</a:t>
            </a:r>
          </a:p>
          <a:p>
            <a:pPr algn="l"/>
            <a:r>
              <a:rPr sz="900">
                <a:solidFill>
                  <a:srgbClr val="0B3D91"/>
                </a:solidFill>
                <a:latin typeface="Segoe UI"/>
              </a:rPr>
              <a:t>KPIs · Value attribution · Cost/benefit · Adoption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8183880"/>
            <a:ext cx="2749296" cy="68580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00" b="1">
                <a:solidFill>
                  <a:srgbClr val="5A4200"/>
                </a:solidFill>
                <a:latin typeface="Segoe UI"/>
              </a:rPr>
              <a:t>L11 · Performance · Caching · Cost</a:t>
            </a:r>
          </a:p>
          <a:p>
            <a:pPr algn="l"/>
            <a:r>
              <a:rPr sz="850">
                <a:solidFill>
                  <a:srgbClr val="5A4200"/>
                </a:solidFill>
                <a:latin typeface="Segoe UI"/>
              </a:rPr>
              <a:t>Prompt · Semantic · Embedding · Memory · Response caches  ·  Cost ledger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97352" y="8183880"/>
            <a:ext cx="2749296" cy="685800"/>
          </a:xfrm>
          <a:prstGeom prst="roundRect">
            <a:avLst/>
          </a:prstGeom>
          <a:solidFill>
            <a:srgbClr val="E8F8F5"/>
          </a:solidFill>
          <a:ln w="1587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00" b="1">
                <a:solidFill>
                  <a:srgbClr val="0B5C4B"/>
                </a:solidFill>
                <a:latin typeface="Segoe UI"/>
              </a:rPr>
              <a:t>L12 · LLMOps &amp; Delivery</a:t>
            </a:r>
          </a:p>
          <a:p>
            <a:pPr algn="l"/>
            <a:r>
              <a:rPr sz="850">
                <a:solidFill>
                  <a:srgbClr val="0B5C4B"/>
                </a:solidFill>
                <a:latin typeface="Segoe UI"/>
              </a:rPr>
              <a:t>Git → CI (lint · sec · prompt · eval) → Artefact Registry → CD (canary · shadow · rollback)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74664" y="8183880"/>
            <a:ext cx="2749296" cy="685800"/>
          </a:xfrm>
          <a:prstGeom prst="roundRect">
            <a:avLst/>
          </a:prstGeom>
          <a:solidFill>
            <a:srgbClr val="ECF0F1"/>
          </a:solidFill>
          <a:ln w="1587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000" b="1">
                <a:solidFill>
                  <a:srgbClr val="1B2A3A"/>
                </a:solidFill>
                <a:latin typeface="Segoe UI"/>
              </a:rPr>
              <a:t>Infrastructure Substrate</a:t>
            </a:r>
          </a:p>
          <a:p>
            <a:pPr algn="l"/>
            <a:r>
              <a:rPr sz="850">
                <a:solidFill>
                  <a:srgbClr val="1B2A3A"/>
                </a:solidFill>
                <a:latin typeface="Segoe UI"/>
              </a:rPr>
              <a:t>Azure · AWS · GCP · Hybrid  ·  Kubernetes  ·  GPU / NPU  ·  Kafka  ·  Multi-region · 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8869680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A94A0"/>
                </a:solidFill>
                <a:latin typeface="Segoe UI"/>
              </a:rPr>
              <a:t>github.com/KarthikeyanDhanakotti/EASRA  ·  v0.1.0  ·  Karthikeyan Dhanakotti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