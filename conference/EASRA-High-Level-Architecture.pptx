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37160"/>
          </a:xfrm>
          <a:prstGeom prst="rect">
            <a:avLst/>
          </a:prstGeom>
          <a:solidFill>
            <a:srgbClr val="3B7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B7DDD"/>
                </a:solidFill>
                <a:latin typeface="Segoe UI"/>
              </a:rPr>
              <a:t>OPEN ARCHITECTURE STANDARD  ·  v0.1.0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Segoe UI"/>
              </a:rPr>
              <a:t>EASRA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Segoe UI"/>
              </a:rPr>
              <a:t>Enterprise AI Systems 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B8CDEA"/>
                </a:solidFill>
                <a:latin typeface="Segoe UI"/>
              </a:rPr>
              <a:t>A vendor-neutral open standard for production-grade Enterprise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72000"/>
            <a:ext cx="2377440" cy="1051560"/>
          </a:xfrm>
          <a:prstGeom prst="roundRect">
            <a:avLst/>
          </a:prstGeom>
          <a:solidFill>
            <a:srgbClr val="12335F"/>
          </a:solidFill>
          <a:ln w="158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"/>
              </a:rPr>
              <a:t>16</a:t>
            </a:r>
          </a:p>
          <a:p>
            <a:pPr algn="ctr"/>
            <a:r>
              <a:rPr sz="1200">
                <a:solidFill>
                  <a:srgbClr val="B8CDEA"/>
                </a:solidFill>
                <a:latin typeface="Segoe UI"/>
              </a:rPr>
              <a:t>Layers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4572000"/>
            <a:ext cx="2377440" cy="1051560"/>
          </a:xfrm>
          <a:prstGeom prst="roundRect">
            <a:avLst/>
          </a:prstGeom>
          <a:solidFill>
            <a:srgbClr val="12335F"/>
          </a:solidFill>
          <a:ln w="158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"/>
              </a:rPr>
              <a:t>4</a:t>
            </a:r>
          </a:p>
          <a:p>
            <a:pPr algn="ctr"/>
            <a:r>
              <a:rPr sz="1200">
                <a:solidFill>
                  <a:srgbClr val="B8CDEA"/>
                </a:solidFill>
                <a:latin typeface="Segoe UI"/>
              </a:rPr>
              <a:t>Trust Boundaries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4572000"/>
            <a:ext cx="2377440" cy="1051560"/>
          </a:xfrm>
          <a:prstGeom prst="roundRect">
            <a:avLst/>
          </a:prstGeom>
          <a:solidFill>
            <a:srgbClr val="12335F"/>
          </a:solidFill>
          <a:ln w="158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"/>
              </a:rPr>
              <a:t>3</a:t>
            </a:r>
          </a:p>
          <a:p>
            <a:pPr algn="ctr"/>
            <a:r>
              <a:rPr sz="1200">
                <a:solidFill>
                  <a:srgbClr val="B8CDEA"/>
                </a:solidFill>
                <a:latin typeface="Segoe UI"/>
              </a:rPr>
              <a:t>Cross-cutting Planes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4572000"/>
            <a:ext cx="2377440" cy="1051560"/>
          </a:xfrm>
          <a:prstGeom prst="roundRect">
            <a:avLst/>
          </a:prstGeom>
          <a:solidFill>
            <a:srgbClr val="12335F"/>
          </a:solidFill>
          <a:ln w="158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"/>
              </a:rPr>
              <a:t>10</a:t>
            </a:r>
          </a:p>
          <a:p>
            <a:pPr algn="ctr"/>
            <a:r>
              <a:rPr sz="1200">
                <a:solidFill>
                  <a:srgbClr val="B8CDEA"/>
                </a:solidFill>
                <a:latin typeface="Segoe UI"/>
              </a:rPr>
              <a:t>Deliverables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FA9CE"/>
                </a:solidFill>
                <a:latin typeface="Segoe UI"/>
              </a:rPr>
              <a:t>Karthikeyan Dhanakotti  ·  github.com/KarthikeyanDhanakotti/EASRA  ·  CC-BY-4.0 (docs) + Apache-2.0 (code)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EASRA  ·  High-Level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16 layers  ·  4 trust boundaries  ·  3 cross-cutting planes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31520"/>
            <a:ext cx="11521440" cy="4114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3D91"/>
                </a:solidFill>
                <a:latin typeface="Segoe UI"/>
              </a:rPr>
              <a:t>Enterprise Users  ·  Web  ·  Mobile  ·  API  ·  Chat  ·  Voice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658368" cy="448056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3272" y="1280160"/>
            <a:ext cx="6346722" cy="448056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3D91"/>
                </a:solidFill>
                <a:latin typeface="Segoe UI"/>
              </a:rPr>
              <a:t>Channels &amp; User Experience</a:t>
            </a:r>
          </a:p>
          <a:p>
            <a:pPr algn="l"/>
            <a:r>
              <a:rPr sz="1000">
                <a:solidFill>
                  <a:srgbClr val="0B3D91"/>
                </a:solidFill>
                <a:latin typeface="Segoe UI"/>
              </a:rPr>
              <a:t>Web · Mobile · API · Chat · Voice · SDK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801368"/>
            <a:ext cx="658368" cy="448056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2" y="1801368"/>
            <a:ext cx="6346722" cy="448056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3D91"/>
                </a:solidFill>
                <a:latin typeface="Segoe UI"/>
              </a:rPr>
              <a:t>Edge · Gateway · Identity</a:t>
            </a:r>
          </a:p>
          <a:p>
            <a:pPr algn="l"/>
            <a:r>
              <a:rPr sz="1000">
                <a:solidFill>
                  <a:srgbClr val="0B3D91"/>
                </a:solidFill>
                <a:latin typeface="Segoe UI"/>
              </a:rPr>
              <a:t>CDN · WAF · Global LB · API Gateway · OIDC/OAuth2 · Rate Limit · Session · Request Validator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322576"/>
            <a:ext cx="658368" cy="448056"/>
          </a:xfrm>
          <a:prstGeom prst="roundRect">
            <a:avLst/>
          </a:prstGeom>
          <a:solidFill>
            <a:srgbClr val="2C3E50"/>
          </a:solidFill>
          <a:ln w="63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" y="2322576"/>
            <a:ext cx="6346722" cy="44805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AI Orchestration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Router · Single Agent · Multi-Agent Coordinator · Planner / Workflow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843784"/>
            <a:ext cx="658368" cy="448056"/>
          </a:xfrm>
          <a:prstGeom prst="roundRect">
            <a:avLst/>
          </a:prstGeom>
          <a:solidFill>
            <a:srgbClr val="2C3E50"/>
          </a:solidFill>
          <a:ln w="63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3272" y="2843784"/>
            <a:ext cx="6346722" cy="44805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Prompt Intelligence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Context Builder · Prompt Builder · Versioned Prompt Registry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364992"/>
            <a:ext cx="658368" cy="448056"/>
          </a:xfrm>
          <a:prstGeom prst="roundRect">
            <a:avLst/>
          </a:prstGeom>
          <a:solidFill>
            <a:srgbClr val="16A085"/>
          </a:solidFill>
          <a:ln w="63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L4·L5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3272" y="3364992"/>
            <a:ext cx="6346722" cy="44805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L4 Memory &amp; Context  |  L5 Knowledge &amp; Retrieval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Short/Long/Session/Semantic Memory  ·  User Profile  ||  Retrieval Router  ·  Vector · BM25 · SQL · Graph  ·  Reranker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886200"/>
            <a:ext cx="658368" cy="448056"/>
          </a:xfrm>
          <a:prstGeom prst="roundRect">
            <a:avLst/>
          </a:prstGeom>
          <a:solidFill>
            <a:srgbClr val="8E44AD"/>
          </a:solidFill>
          <a:ln w="63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" y="3886200"/>
            <a:ext cx="6346722" cy="448056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4A1E5C"/>
                </a:solidFill>
                <a:latin typeface="Segoe UI"/>
              </a:rPr>
              <a:t>AI Models &amp; Model Router</a:t>
            </a:r>
          </a:p>
          <a:p>
            <a:pPr algn="l"/>
            <a:r>
              <a:rPr sz="1000">
                <a:solidFill>
                  <a:srgbClr val="4A1E5C"/>
                </a:solidFill>
                <a:latin typeface="Segoe UI"/>
              </a:rPr>
              <a:t>Model Router (capability · cost · latency · policy)  ·  Foundation + Small/Specialised Models  ·  Model Registry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407408"/>
            <a:ext cx="658368" cy="448056"/>
          </a:xfrm>
          <a:prstGeom prst="roundRect">
            <a:avLst/>
          </a:prstGeom>
          <a:solidFill>
            <a:srgbClr val="16A085"/>
          </a:solidFill>
          <a:ln w="63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3272" y="4407408"/>
            <a:ext cx="6346722" cy="44805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Tooling &amp; Actions  (MCP)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Tool Router · MCP Client ⇄ Servers · Enterprise APIs · Impact-Class Enforcer · Tool Registry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4928616"/>
            <a:ext cx="658368" cy="448056"/>
          </a:xfrm>
          <a:prstGeom prst="roundRect">
            <a:avLst/>
          </a:prstGeom>
          <a:solidFill>
            <a:srgbClr val="C0392B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3272" y="4928616"/>
            <a:ext cx="6346722" cy="448056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6B1A11"/>
                </a:solidFill>
                <a:latin typeface="Segoe UI"/>
              </a:rPr>
              <a:t>Guardrails &amp; Safety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Input · Prompt · Tool-Arg · Output guardrails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5449824"/>
            <a:ext cx="658368" cy="448056"/>
          </a:xfrm>
          <a:prstGeom prst="roundRect">
            <a:avLst/>
          </a:prstGeom>
          <a:solidFill>
            <a:srgbClr val="C0392B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3272" y="5449824"/>
            <a:ext cx="6346722" cy="448056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6B1A11"/>
                </a:solidFill>
                <a:latin typeface="Segoe UI"/>
              </a:rPr>
              <a:t>Verification  &amp;  Streaming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Grounding · Citation · Factuality · Format · Policy · Safety  →  Response Formatter · Streaming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4586" y="1261872"/>
            <a:ext cx="432706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6470"/>
                </a:solidFill>
                <a:latin typeface="Segoe UI"/>
              </a:rPr>
              <a:t>CROSS-CUTTING PLANES  ·  attach to every layer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4586" y="1554480"/>
            <a:ext cx="658368" cy="1017270"/>
          </a:xfrm>
          <a:prstGeom prst="roundRect">
            <a:avLst/>
          </a:prstGeom>
          <a:solidFill>
            <a:srgbClr val="B58900"/>
          </a:solidFill>
          <a:ln w="6350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57818" y="1554480"/>
            <a:ext cx="3613837" cy="101727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Observability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OpenTelemetry Collector  ·  Traces · Metrics · Logs  ·  Tokens · Latency · Cost  ·  Agent · Prompt · Tool trace  ·  Evaluation · Alerts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4586" y="2663190"/>
            <a:ext cx="658368" cy="1017270"/>
          </a:xfrm>
          <a:prstGeom prst="roundRect">
            <a:avLst/>
          </a:prstGeom>
          <a:solidFill>
            <a:srgbClr val="C0392B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57818" y="2663190"/>
            <a:ext cx="3613837" cy="101727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6B1A11"/>
                </a:solidFill>
                <a:latin typeface="Segoe UI"/>
              </a:rPr>
              <a:t>Security  &amp;  Zero Trust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AuthN · AuthZ  ·  Secrets · Encryption  ·  PII Detection  ·  Policy Engine  ·  Audit  ·  Compliance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4586" y="3771900"/>
            <a:ext cx="658368" cy="1017270"/>
          </a:xfrm>
          <a:prstGeom prst="roundRect">
            <a:avLst/>
          </a:prstGeom>
          <a:solidFill>
            <a:srgbClr val="2C3E50"/>
          </a:solidFill>
          <a:ln w="63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57818" y="3771900"/>
            <a:ext cx="3613837" cy="101727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Governance · Risk · Compliance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Policy Engine  ·  Model · Prompt · Tool registries  ·  NIST AI RMF · ISO 42001 · EU AI Act · OWASP LLM Top 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4586" y="4880610"/>
            <a:ext cx="658368" cy="1017270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57818" y="4880610"/>
            <a:ext cx="3613837" cy="101727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3D91"/>
                </a:solidFill>
                <a:latin typeface="Segoe UI"/>
              </a:rPr>
              <a:t>Business Outcomes  &amp;  Value</a:t>
            </a:r>
          </a:p>
          <a:p>
            <a:pPr algn="l"/>
            <a:r>
              <a:rPr sz="1000">
                <a:solidFill>
                  <a:srgbClr val="0B3D91"/>
                </a:solidFill>
                <a:latin typeface="Segoe UI"/>
              </a:rPr>
              <a:t>KPIs  ·  Value attribution  ·  Cost / Benefit  ·  Adoption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" y="5971032"/>
            <a:ext cx="3740810" cy="566928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L11  Performance · Caching · Cost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Prompt · Semantic · Embedding · Memory · Response caches  ·  Cost Ledger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5442" y="5971032"/>
            <a:ext cx="3740810" cy="566928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L12  LLMOps &amp; Delivery</a:t>
            </a:r>
          </a:p>
          <a:p>
            <a:pPr algn="l"/>
            <a:r>
              <a:rPr sz="900">
                <a:solidFill>
                  <a:srgbClr val="0B5C4B"/>
                </a:solidFill>
                <a:latin typeface="Segoe UI"/>
              </a:rPr>
              <a:t>Git → CI (lint · sec · prompt-tests · eval) → Artefact Registry → CD (canary · blue/green · shadow · rollback)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0844" y="5971032"/>
            <a:ext cx="3740810" cy="566928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Infrastructure Substrate</a:t>
            </a:r>
          </a:p>
          <a:p>
            <a:pPr algn="l"/>
            <a:r>
              <a:rPr sz="900">
                <a:solidFill>
                  <a:srgbClr val="1B2A3A"/>
                </a:solidFill>
                <a:latin typeface="Segoe UI"/>
              </a:rPr>
              <a:t>Azure · AWS · GCP · On-Prem · Hybrid  ·  Kubernetes  ·  GPU / NPU / CPU  ·  Kafka · EventGrid · PubSub  ·  Object Storage  ·  Multi-region · DR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EASRA  ·  The Sixteen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22960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3272" y="822960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Channels &amp; User Experience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Web, mobile, API, chat, voice, SDK — every way a user or system talks to the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29334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3272" y="1529334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Edge · Gateway · Identity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CDN, WAF, global load balancer, API gateway, OIDC/OAuth2, rate limiting, session, request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235708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2" y="2235708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AI Orchestration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Router, single agent, multi-agent coordinator, planner/workflow engine.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942082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" y="2942082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Prompt Intelligence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Context builder, prompt builder, versioned prompt registry.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3648456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3272" y="3648456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Memory &amp; Context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Short-term, long-term, session, semantic memory and user profile.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354830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3272" y="4354830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Knowledge &amp; Retrieval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Retrieval router across vector, BM25, SQL, graph; reranker; hybrid retrieval.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61204"/>
            <a:ext cx="658368" cy="633222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" y="5061204"/>
            <a:ext cx="4971135" cy="633222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AI Models &amp; Model Router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Capability/cost/latency/policy-aware routing over foundation + small/specialised models.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767578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3272" y="5767578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Tooling &amp; Actions (MCP)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Tool router, MCP clients/servers, enterprise APIs, impact-class enforcer, tool registry.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822960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0519" y="822960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Guardrails &amp; Safety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Input, prompt, tool-argument and output guardrails.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1529334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0519" y="1529334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Verification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First-class verification layer: grounding, citation, factuality, format, policy, safety.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235708"/>
            <a:ext cx="658368" cy="633222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0519" y="2235708"/>
            <a:ext cx="4971135" cy="63322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Observability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OpenTelemetry-based traces, metrics, logs; tokens, latency, cost; agent/prompt/tool trace; evaluation, alerts.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2942082"/>
            <a:ext cx="658368" cy="633222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0519" y="2942082"/>
            <a:ext cx="4971135" cy="63322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Performance · Caching · Cost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Prompt, semantic, embedding, memory, response caches; cost ledger.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7287" y="3648456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0519" y="3648456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LLMOps &amp; Delivery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Git → CI (lint, sec-scan, prompt-tests, eval) → artefact registry → CD (canary, blue/green, shadow, rollback).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354830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0519" y="4354830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Security &amp; Zero Trust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AuthN/AuthZ, secrets, encryption, PII detection, policy engine, audit, compliance.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7287" y="5061204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0519" y="5061204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Governance · Risk · Compliance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Policy engine, model/prompt/tool registries, NIST AI RMF, ISO 42001, EU AI Act, OWASP LLM Top 10.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87287" y="5767578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0519" y="5767578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Business Outcomes &amp; Value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KPIs, value attribution, cost/benefit, adoption tracking.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Full spec: github.com/KarthikeyanDhanakotti/EASRA/tree/main/specification  ·  v0.1.0  ·  Karthikeyan Dhanakotti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