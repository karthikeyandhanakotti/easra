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137160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B7DDD"/>
                </a:solidFill>
                <a:latin typeface="Segoe UI"/>
              </a:rPr>
              <a:t>OPEN REFERENCE ARCHITECTURE  ·  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Segoe UI"/>
              </a:rPr>
              <a:t>EASRA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egoe UI"/>
              </a:rPr>
              <a:t>Enterprise AI Systems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B8CDEA"/>
                </a:solidFill>
                <a:latin typeface="Segoe UI"/>
              </a:rPr>
              <a:t>The open reference architecture for production-grade Enterprise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34840"/>
            <a:ext cx="2514600" cy="141732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09728" wrap="square"/>
          <a:lstStyle/>
          <a:p>
            <a:pPr algn="l"/>
            <a:r>
              <a:rPr sz="1500" b="1">
                <a:solidFill>
                  <a:srgbClr val="3B7DDD"/>
                </a:solidFill>
                <a:latin typeface="Segoe UI"/>
              </a:rPr>
              <a:t>VENDOR-NEUTRAL</a:t>
            </a:r>
          </a:p>
          <a:p>
            <a:pPr algn="l"/>
            <a:r>
              <a:rPr sz="1100">
                <a:solidFill>
                  <a:srgbClr val="E4EEFB"/>
                </a:solidFill>
                <a:latin typeface="Segoe UI"/>
              </a:rPr>
              <a:t>No lock-in. Every layer maps to ≥ 2 clouds.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34840"/>
            <a:ext cx="2514600" cy="141732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09728" wrap="square"/>
          <a:lstStyle/>
          <a:p>
            <a:pPr algn="l"/>
            <a:r>
              <a:rPr sz="1500" b="1">
                <a:solidFill>
                  <a:srgbClr val="3B7DDD"/>
                </a:solidFill>
                <a:latin typeface="Segoe UI"/>
              </a:rPr>
              <a:t>PRODUCTION-READY</a:t>
            </a:r>
          </a:p>
          <a:p>
            <a:pPr algn="l"/>
            <a:r>
              <a:rPr sz="1100">
                <a:solidFill>
                  <a:srgbClr val="E4EEFB"/>
                </a:solidFill>
                <a:latin typeface="Segoe UI"/>
              </a:rPr>
              <a:t>Runtime, deployment &amp; scaling — not a slideware framework.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34840"/>
            <a:ext cx="2514600" cy="141732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09728" wrap="square"/>
          <a:lstStyle/>
          <a:p>
            <a:pPr algn="l"/>
            <a:r>
              <a:rPr sz="1500" b="1">
                <a:solidFill>
                  <a:srgbClr val="3B7DDD"/>
                </a:solidFill>
                <a:latin typeface="Segoe UI"/>
              </a:rPr>
              <a:t>VERIFICATION-FIRST</a:t>
            </a:r>
          </a:p>
          <a:p>
            <a:pPr algn="l"/>
            <a:r>
              <a:rPr sz="1100">
                <a:solidFill>
                  <a:srgbClr val="E4EEFB"/>
                </a:solidFill>
                <a:latin typeface="Segoe UI"/>
              </a:rPr>
              <a:t>Grounding, citation, factuality baked in — verification ≠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434840"/>
            <a:ext cx="2514600" cy="141732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09728" wrap="square"/>
          <a:lstStyle/>
          <a:p>
            <a:pPr algn="l"/>
            <a:r>
              <a:rPr sz="1500" b="1">
                <a:solidFill>
                  <a:srgbClr val="3B7DDD"/>
                </a:solidFill>
                <a:latin typeface="Segoe UI"/>
              </a:rPr>
              <a:t>CLOUD-AGNOSTIC</a:t>
            </a:r>
          </a:p>
          <a:p>
            <a:pPr algn="l"/>
            <a:r>
              <a:rPr sz="1100">
                <a:solidFill>
                  <a:srgbClr val="E4EEFB"/>
                </a:solidFill>
                <a:latin typeface="Segoe UI"/>
              </a:rPr>
              <a:t>Azure · AWS · GCP · OSS-K8s — same architecture, four impls.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FA9CE"/>
                </a:solidFill>
                <a:latin typeface="Segoe UI"/>
              </a:rPr>
              <a:t>Karthikeyan Dhanakotti  ·  github.com/KarthikeyanDhanakotti/EASRA  ·  CC-BY-4.0 (docs) + Apache-2.0 (code)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Why EASRA?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B1F3A"/>
                </a:solidFill>
                <a:latin typeface="Segoe UI"/>
              </a:rPr>
              <a:t>Enterprise AI stacks are one-offs.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5A6470"/>
                </a:solidFill>
                <a:latin typeface="Segoe UI"/>
              </a:rPr>
              <a:t>Every team is redesigning the same architecture — badly, in isolation, with different vocabulary.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55767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No shared vocabulary</a:t>
            </a:r>
          </a:p>
          <a:p>
            <a:pPr algn="l"/>
            <a:r>
              <a:rPr sz="1100">
                <a:solidFill>
                  <a:srgbClr val="4A2C29"/>
                </a:solidFill>
                <a:latin typeface="Segoe UI"/>
              </a:rPr>
              <a:t>Teams argue about ‘agent’ vs ‘workflow’ vs ‘orchestrator’ before writing a line of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926080"/>
            <a:ext cx="5455767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Security bolted on</a:t>
            </a:r>
          </a:p>
          <a:p>
            <a:pPr algn="l"/>
            <a:r>
              <a:rPr sz="1100">
                <a:solidFill>
                  <a:srgbClr val="4A2C29"/>
                </a:solidFill>
                <a:latin typeface="Segoe UI"/>
              </a:rPr>
              <a:t>Prompt injection, tool safety and PII treated as add-ons, not architectural concerns.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5455767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Verification confused with evaluation</a:t>
            </a:r>
          </a:p>
          <a:p>
            <a:pPr algn="l"/>
            <a:r>
              <a:rPr sz="1100">
                <a:solidFill>
                  <a:srgbClr val="4A2C29"/>
                </a:solidFill>
                <a:latin typeface="Segoe UI"/>
              </a:rPr>
              <a:t>Offline metrics ship to prod. No first-class verification of grounding, citation, factuality.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4480560"/>
            <a:ext cx="5455767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Cost &amp; observability afterthoughts</a:t>
            </a:r>
          </a:p>
          <a:p>
            <a:pPr algn="l"/>
            <a:r>
              <a:rPr sz="1100">
                <a:solidFill>
                  <a:srgbClr val="4A2C29"/>
                </a:solidFill>
                <a:latin typeface="Segoe UI"/>
              </a:rPr>
              <a:t>Token spend, latency SLOs and tool traces retrofitted after the outage.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What is EASRA?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0B1F3A"/>
                </a:solidFill>
                <a:latin typeface="Segoe UI"/>
              </a:rPr>
              <a:t>An open reference architecture for Enterprise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1">
                <a:solidFill>
                  <a:srgbClr val="3B7DDD"/>
                </a:solidFill>
                <a:latin typeface="Segoe UI"/>
              </a:rPr>
              <a:t>Vendor-neutral. Production-grade. Standards-aligned.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455767" cy="14173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0B3D91"/>
                </a:solidFill>
                <a:latin typeface="Segoe UI"/>
              </a:rPr>
              <a:t>Vendor-neutral</a:t>
            </a:r>
          </a:p>
          <a:p>
            <a:pPr algn="l"/>
            <a:r>
              <a:rPr sz="1100">
                <a:solidFill>
                  <a:srgbClr val="0B3D91"/>
                </a:solidFill>
                <a:latin typeface="Segoe UI"/>
              </a:rPr>
              <a:t>Every layer maps cleanly to Azure, AWS, GCP and open-source. No lock-in.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606040"/>
            <a:ext cx="5455767" cy="141732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Security by design</a:t>
            </a:r>
          </a:p>
          <a:p>
            <a:pPr algn="l"/>
            <a:r>
              <a:rPr sz="1100">
                <a:solidFill>
                  <a:srgbClr val="6B1A11"/>
                </a:solidFill>
                <a:latin typeface="Segoe UI"/>
              </a:rPr>
              <a:t>Zero trust, four trust boundaries, prompt-injection resistance in the layers, not on 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55767" cy="141732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5A4200"/>
                </a:solidFill>
                <a:latin typeface="Segoe UI"/>
              </a:rPr>
              <a:t>Verification-first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Grounding, citation, factuality, policy and safety verification separated from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4206240"/>
            <a:ext cx="5455767" cy="141732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400" b="1">
                <a:solidFill>
                  <a:srgbClr val="0B5C4B"/>
                </a:solidFill>
                <a:latin typeface="Segoe UI"/>
              </a:rPr>
              <a:t>Cost + observability by default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Tokens, latency, cost, prompts, tools traced through OpenTelemetry from every component.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The EASRA capability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5A6470"/>
                </a:solidFill>
                <a:latin typeface="Segoe UI"/>
              </a:rPr>
              <a:t>EASRA is not just a diagram. It is a full stack — like TOGAF, like OpenTelemetry.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1556178" cy="402336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3D91"/>
                </a:solidFill>
                <a:latin typeface="Segoe UI"/>
              </a:rPr>
              <a:t>Capability Model</a:t>
            </a:r>
          </a:p>
          <a:p>
            <a:pPr algn="l"/>
            <a:r>
              <a:rPr sz="1100">
                <a:solidFill>
                  <a:srgbClr val="0B3D91"/>
                </a:solidFill>
                <a:latin typeface="Segoe UI"/>
              </a:rPr>
              <a:t>What capabilities every Enterprise AI system must have.</a:t>
            </a:r>
          </a:p>
        </p:txBody>
      </p:sp>
      <p:sp>
        <p:nvSpPr>
          <p:cNvPr id="8" name="Oval 7"/>
          <p:cNvSpPr/>
          <p:nvPr/>
        </p:nvSpPr>
        <p:spPr>
          <a:xfrm>
            <a:off x="800949" y="1353312"/>
            <a:ext cx="594360" cy="594360"/>
          </a:xfrm>
          <a:prstGeom prst="ellipse">
            <a:avLst/>
          </a:prstGeom>
          <a:solidFill>
            <a:srgbClr val="3B7DD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57930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985946" y="1783080"/>
            <a:ext cx="1556178" cy="402336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Reference Arch.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16 layers, 4 trust boundaries, 3 planes — the shared shape.</a:t>
            </a:r>
          </a:p>
        </p:txBody>
      </p:sp>
      <p:sp>
        <p:nvSpPr>
          <p:cNvPr id="11" name="Oval 10"/>
          <p:cNvSpPr/>
          <p:nvPr/>
        </p:nvSpPr>
        <p:spPr>
          <a:xfrm>
            <a:off x="2466855" y="1353312"/>
            <a:ext cx="594360" cy="594360"/>
          </a:xfrm>
          <a:prstGeom prst="ellipse">
            <a:avLst/>
          </a:prstGeom>
          <a:solidFill>
            <a:srgbClr val="2C3E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3836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651852" y="1783080"/>
            <a:ext cx="1556178" cy="402336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4A1E5C"/>
                </a:solidFill>
                <a:latin typeface="Segoe UI"/>
              </a:rPr>
              <a:t>Reference Impls.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Azure · AWS · GCP · OSS-K8s — same architecture, four impls.</a:t>
            </a:r>
          </a:p>
        </p:txBody>
      </p:sp>
      <p:sp>
        <p:nvSpPr>
          <p:cNvPr id="14" name="Oval 13"/>
          <p:cNvSpPr/>
          <p:nvPr/>
        </p:nvSpPr>
        <p:spPr>
          <a:xfrm>
            <a:off x="4132761" y="1353312"/>
            <a:ext cx="594360" cy="59436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89742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317758" y="1783080"/>
            <a:ext cx="1556178" cy="402336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5C4B"/>
                </a:solidFill>
                <a:latin typeface="Segoe UI"/>
              </a:rPr>
              <a:t>Patterns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Named, reusable solutions: RAG, agent, tool-use, HITL, cache-first.</a:t>
            </a:r>
          </a:p>
        </p:txBody>
      </p:sp>
      <p:sp>
        <p:nvSpPr>
          <p:cNvPr id="17" name="Oval 16"/>
          <p:cNvSpPr/>
          <p:nvPr/>
        </p:nvSpPr>
        <p:spPr>
          <a:xfrm>
            <a:off x="5798667" y="1353312"/>
            <a:ext cx="594360" cy="594360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55648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983664" y="1783080"/>
            <a:ext cx="1556178" cy="40233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Verification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Grounding · citation · factuality · policy — separated from evaluation.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7464573" y="1353312"/>
            <a:ext cx="594360" cy="594360"/>
          </a:xfrm>
          <a:prstGeom prst="ellipse">
            <a:avLst/>
          </a:prstGeom>
          <a:solidFill>
            <a:srgbClr val="B589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21554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649570" y="1783080"/>
            <a:ext cx="1556178" cy="40233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Benchmarks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Latency · cost · safety · reliability — comparable across impls.</a:t>
            </a:r>
          </a:p>
        </p:txBody>
      </p:sp>
      <p:sp>
        <p:nvSpPr>
          <p:cNvPr id="23" name="Oval 22"/>
          <p:cNvSpPr/>
          <p:nvPr/>
        </p:nvSpPr>
        <p:spPr>
          <a:xfrm>
            <a:off x="9130479" y="1353312"/>
            <a:ext cx="594360" cy="594360"/>
          </a:xfrm>
          <a:prstGeom prst="ellipse">
            <a:avLst/>
          </a:prstGeom>
          <a:solidFill>
            <a:srgbClr val="B589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187460" y="3666744"/>
            <a:ext cx="146304" cy="256032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5476" y="1783080"/>
            <a:ext cx="1556178" cy="402336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Certification</a:t>
            </a:r>
          </a:p>
          <a:p>
            <a:pPr algn="l"/>
            <a:r>
              <a:rPr sz="1100">
                <a:solidFill>
                  <a:srgbClr val="6B1A11"/>
                </a:solidFill>
                <a:latin typeface="Segoe UI"/>
              </a:rPr>
              <a:t>Conformance profiles: what it means to be ‘EASRA-compliant’.</a:t>
            </a:r>
          </a:p>
        </p:txBody>
      </p:sp>
      <p:sp>
        <p:nvSpPr>
          <p:cNvPr id="26" name="Oval 25"/>
          <p:cNvSpPr/>
          <p:nvPr/>
        </p:nvSpPr>
        <p:spPr>
          <a:xfrm>
            <a:off x="10796385" y="1353312"/>
            <a:ext cx="594360" cy="59436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08076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0B3D91"/>
                </a:solidFill>
                <a:latin typeface="Segoe UI"/>
              </a:rPr>
              <a:t>Ladders 1–3 are v0.1.0 today. Ladders 4–7 are the roadmap.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Ten design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68680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" y="868680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Vendor Neutrality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Logical layers; each maps to ≥ 2 independent implementations.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989734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1989734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Security by Design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Zero-trust, least-privilege, prompt-injection resistance are architectural.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10788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110788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Verification by Design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Every AI output is verifiable; verification ≠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231843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4231843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Observability by Default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Traces, metrics, logs, token/cost accounting emitted from every component.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352897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5352897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Loose Coupling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Layers communicate only through published interfaces.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868680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6511" y="868680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Externalized State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Memory, sessions, caches live outside compute; compute is stateless.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989734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6511" y="1989734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Human-in-the-Loop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Every autonomous action has escalation, override and audit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3110788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6511" y="3110788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Failure Isolation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Layer failure degrades gracefully; no single layer cascades a full outage.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4231843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6511" y="4231843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Cost Awareness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Token, compute, storage cost are explicit design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5352897"/>
            <a:ext cx="594360" cy="1047902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6511" y="5352897"/>
            <a:ext cx="5035143" cy="104790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Evolvability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New models, tools, agents, channels added without redesigning the architecture.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EASRA  ·  The Sixteen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658368" cy="633222"/>
          </a:xfrm>
          <a:prstGeom prst="roundRect">
            <a:avLst/>
          </a:prstGeom>
          <a:solidFill>
            <a:srgbClr val="3B7DDD"/>
          </a:solidFill>
          <a:ln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" y="822960"/>
            <a:ext cx="4971135" cy="633222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Channels &amp; User Experience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Web, mobile, API, chat, voice, SDK — every way a user or system talks to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29334"/>
            <a:ext cx="658368" cy="633222"/>
          </a:xfrm>
          <a:prstGeom prst="roundRect">
            <a:avLst/>
          </a:prstGeom>
          <a:solidFill>
            <a:srgbClr val="3B7DDD"/>
          </a:solidFill>
          <a:ln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" y="1529334"/>
            <a:ext cx="4971135" cy="633222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Edge · Gateway · Identity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CDN, WAF, global load balancer, API gateway, OIDC/OAuth2, rate limiting, session, request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235708"/>
            <a:ext cx="658368" cy="633222"/>
          </a:xfrm>
          <a:prstGeom prst="round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" y="2235708"/>
            <a:ext cx="4971135" cy="63322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AI Orchestration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Router, single agent, multi-agent coordinator, planner/workflow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42082"/>
            <a:ext cx="658368" cy="633222"/>
          </a:xfrm>
          <a:prstGeom prst="round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" y="2942082"/>
            <a:ext cx="4971135" cy="63322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Prompt Intelligence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Context builder, prompt builder, versioned prompt registry.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648456"/>
            <a:ext cx="658368" cy="633222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" y="3648456"/>
            <a:ext cx="4971135" cy="633222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Memory &amp; Context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Short-term, long-term, session, semantic memory and user profile.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354830"/>
            <a:ext cx="658368" cy="633222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" y="4354830"/>
            <a:ext cx="4971135" cy="633222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Knowledge &amp; Retrieval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Retrieval router across vector, BM25, SQL, graph; reranker; hybrid retrieval.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61204"/>
            <a:ext cx="658368" cy="633222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" y="5061204"/>
            <a:ext cx="4971135" cy="633222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AI Models &amp; Model Router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Capability/cost/latency/policy-aware routing over foundation + small/specialised models.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767578"/>
            <a:ext cx="658368" cy="633222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" y="5767578"/>
            <a:ext cx="4971135" cy="633222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Tooling &amp; Actions (MCP)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Tool router, MCP clients/servers, enterprise APIs, impact-class enforcer, tool registry.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822960"/>
            <a:ext cx="658368" cy="63322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0519" y="822960"/>
            <a:ext cx="4971135" cy="633222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Guardrails &amp; Safety</a:t>
            </a:r>
          </a:p>
          <a:p>
            <a:pPr algn="l"/>
            <a:r>
              <a:rPr sz="950">
                <a:solidFill>
                  <a:srgbClr val="6B1A11"/>
                </a:solidFill>
                <a:latin typeface="Segoe UI"/>
              </a:rPr>
              <a:t>Input, prompt, tool-argument and output guardrails.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1529334"/>
            <a:ext cx="658368" cy="63322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0519" y="1529334"/>
            <a:ext cx="4971135" cy="633222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Verification</a:t>
            </a:r>
          </a:p>
          <a:p>
            <a:pPr algn="l"/>
            <a:r>
              <a:rPr sz="950">
                <a:solidFill>
                  <a:srgbClr val="6B1A11"/>
                </a:solidFill>
                <a:latin typeface="Segoe UI"/>
              </a:rPr>
              <a:t>First-class verification layer: grounding, citation, factuality, format, policy, safety.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235708"/>
            <a:ext cx="658368" cy="633222"/>
          </a:xfrm>
          <a:prstGeom prst="roundRect">
            <a:avLst/>
          </a:prstGeom>
          <a:solidFill>
            <a:srgbClr val="B58900"/>
          </a:solidFill>
          <a:ln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0519" y="2235708"/>
            <a:ext cx="4971135" cy="63322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Observability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OpenTelemetry-based traces, metrics, logs; tokens, latency, cost; agent/prompt/tool trace; evaluation, alerts.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2942082"/>
            <a:ext cx="658368" cy="633222"/>
          </a:xfrm>
          <a:prstGeom prst="roundRect">
            <a:avLst/>
          </a:prstGeom>
          <a:solidFill>
            <a:srgbClr val="B58900"/>
          </a:solidFill>
          <a:ln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0519" y="2942082"/>
            <a:ext cx="4971135" cy="63322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Performance · Caching · Cost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Prompt, semantic, embedding, memory, response caches; cost ledger.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3648456"/>
            <a:ext cx="658368" cy="633222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0519" y="3648456"/>
            <a:ext cx="4971135" cy="633222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AI Platform Engineering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Git → CI (lint, sec-scan, prompt-tests, eval) → artefact registry → CD (canary, blue/green, shadow, rollback).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4354830"/>
            <a:ext cx="658368" cy="63322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0519" y="4354830"/>
            <a:ext cx="4971135" cy="633222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Security &amp; Zero Trust</a:t>
            </a:r>
          </a:p>
          <a:p>
            <a:pPr algn="l"/>
            <a:r>
              <a:rPr sz="950">
                <a:solidFill>
                  <a:srgbClr val="6B1A11"/>
                </a:solidFill>
                <a:latin typeface="Segoe UI"/>
              </a:rPr>
              <a:t>AuthN/AuthZ, secrets, encryption, PII detection, policy engine, audit, compliance.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287" y="5061204"/>
            <a:ext cx="658368" cy="633222"/>
          </a:xfrm>
          <a:prstGeom prst="round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0519" y="5061204"/>
            <a:ext cx="4971135" cy="633222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Governance · Risk · Compliance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Policy engine, model/prompt/tool registries, NIST AI RMF, ISO 42001, EU AI Act, OWASP LLM Top 10.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5767578"/>
            <a:ext cx="658368" cy="633222"/>
          </a:xfrm>
          <a:prstGeom prst="roundRect">
            <a:avLst/>
          </a:prstGeom>
          <a:solidFill>
            <a:srgbClr val="3B7DDD"/>
          </a:solidFill>
          <a:ln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0519" y="5767578"/>
            <a:ext cx="4971135" cy="633222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Business Outcomes &amp; Value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KPIs, value attribution, cost/benefit, adoption tracking.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Full spec: github.com/KarthikeyanDhanakotti/EASRA/tree/main/specification  ·  v0.1.0  ·  Karthikeyan Dhanakotti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Production runtime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516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A6470"/>
                </a:solidFill>
                <a:latin typeface="Segoe UI"/>
              </a:rPr>
              <a:t>Request flows down through the pipeline; response streams back through verification and guardrails. Async work fans out to an event bus.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1673900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User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75652" y="1321308"/>
            <a:ext cx="146304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103668" y="1170432"/>
            <a:ext cx="1673900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CDN / Edge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59281" y="1321308"/>
            <a:ext cx="146304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887297" y="1170432"/>
            <a:ext cx="1673900" cy="50292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6B1A11"/>
                </a:solidFill>
                <a:latin typeface="Segoe UI"/>
              </a:rPr>
              <a:t>WAF · DDoS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42909" y="1321308"/>
            <a:ext cx="146304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70925" y="1170432"/>
            <a:ext cx="1673900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API Gateway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26538" y="1321308"/>
            <a:ext cx="146304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454554" y="1170432"/>
            <a:ext cx="1673900" cy="50292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4A1E5C"/>
                </a:solidFill>
                <a:latin typeface="Segoe UI"/>
              </a:rPr>
              <a:t>AI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6645" y="1691640"/>
            <a:ext cx="15824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3B7DDD"/>
                </a:solidFill>
                <a:latin typeface="Segoe UI"/>
              </a:rPr>
              <a:t>OAuth · TLS · quota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274" y="1691640"/>
            <a:ext cx="15824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8E44AD"/>
                </a:solidFill>
                <a:latin typeface="Segoe UI"/>
              </a:rPr>
              <a:t>Routing · retries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1302" y="1993392"/>
            <a:ext cx="6165890" cy="50292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1B2A3A"/>
                </a:solidFill>
                <a:latin typeface="Segoe UI"/>
              </a:rPr>
              <a:t>L2 Router · Planner · Agent Selector · Session Context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559178" y="1691640"/>
            <a:ext cx="201168" cy="292608"/>
          </a:xfrm>
          <a:prstGeom prst="down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20040" y="2816352"/>
            <a:ext cx="1673900" cy="1874519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L4 Memory</a:t>
            </a:r>
          </a:p>
          <a:p>
            <a:pPr algn="l"/>
            <a:r>
              <a:rPr sz="1000">
                <a:solidFill>
                  <a:srgbClr val="0B5C4B"/>
                </a:solidFill>
                <a:latin typeface="Segoe UI"/>
              </a:rPr>
              <a:t>Session · long-term
profile · episodic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75595" y="2514600"/>
            <a:ext cx="164592" cy="256032"/>
          </a:xfrm>
          <a:prstGeom prst="downArrow">
            <a:avLst/>
          </a:prstGeom>
          <a:solidFill>
            <a:srgbClr val="8A94A0"/>
          </a:solidFill>
          <a:ln w="3175">
            <a:solidFill>
              <a:srgbClr val="8A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 flipV="1">
            <a:off x="1856780" y="2496312"/>
            <a:ext cx="0" cy="320040"/>
          </a:xfrm>
          <a:prstGeom prst="line">
            <a:avLst/>
          </a:prstGeom>
          <a:ln w="15875">
            <a:solidFill>
              <a:srgbClr val="16A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03668" y="2816352"/>
            <a:ext cx="1673900" cy="1874519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L5 Retrieval</a:t>
            </a:r>
          </a:p>
          <a:p>
            <a:pPr algn="l"/>
            <a:r>
              <a:rPr sz="1000">
                <a:solidFill>
                  <a:srgbClr val="0B5C4B"/>
                </a:solidFill>
                <a:latin typeface="Segoe UI"/>
              </a:rPr>
              <a:t>Vector · BM25
SQL · Graph · rerank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408773" y="2514600"/>
            <a:ext cx="164592" cy="256032"/>
          </a:xfrm>
          <a:prstGeom prst="downArrow">
            <a:avLst/>
          </a:prstGeom>
          <a:solidFill>
            <a:srgbClr val="8A94A0"/>
          </a:solidFill>
          <a:ln w="3175">
            <a:solidFill>
              <a:srgbClr val="8A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 flipV="1">
            <a:off x="3640409" y="2496312"/>
            <a:ext cx="0" cy="320040"/>
          </a:xfrm>
          <a:prstGeom prst="line">
            <a:avLst/>
          </a:prstGeom>
          <a:ln w="15875">
            <a:solidFill>
              <a:srgbClr val="16A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87297" y="2816352"/>
            <a:ext cx="1673900" cy="1874519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L3 Prompt Build</a:t>
            </a:r>
          </a:p>
          <a:p>
            <a:pPr algn="l"/>
            <a:r>
              <a:rPr sz="1000">
                <a:solidFill>
                  <a:srgbClr val="1B2A3A"/>
                </a:solidFill>
                <a:latin typeface="Segoe UI"/>
              </a:rPr>
              <a:t>Template · pack
context · budget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41951" y="2514600"/>
            <a:ext cx="164592" cy="256032"/>
          </a:xfrm>
          <a:prstGeom prst="downArrow">
            <a:avLst/>
          </a:prstGeom>
          <a:solidFill>
            <a:srgbClr val="8A94A0"/>
          </a:solidFill>
          <a:ln w="3175">
            <a:solidFill>
              <a:srgbClr val="8A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 flipV="1">
            <a:off x="5424037" y="2496312"/>
            <a:ext cx="0" cy="320040"/>
          </a:xfrm>
          <a:prstGeom prst="line">
            <a:avLst/>
          </a:prstGeom>
          <a:ln w="15875">
            <a:solidFill>
              <a:srgbClr val="16A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70925" y="2816352"/>
            <a:ext cx="1673900" cy="1874519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L7 Tools · MCP</a:t>
            </a:r>
          </a:p>
          <a:p>
            <a:pPr algn="l"/>
            <a:r>
              <a:rPr sz="1000">
                <a:solidFill>
                  <a:srgbClr val="0B5C4B"/>
                </a:solidFill>
                <a:latin typeface="Segoe UI"/>
              </a:rPr>
              <a:t>Registry · impact
class · guardrails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875129" y="2514600"/>
            <a:ext cx="164592" cy="256032"/>
          </a:xfrm>
          <a:prstGeom prst="downArrow">
            <a:avLst/>
          </a:prstGeom>
          <a:solidFill>
            <a:srgbClr val="8A94A0"/>
          </a:solidFill>
          <a:ln w="3175">
            <a:solidFill>
              <a:srgbClr val="8A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 flipV="1">
            <a:off x="7207666" y="2496312"/>
            <a:ext cx="0" cy="320040"/>
          </a:xfrm>
          <a:prstGeom prst="line">
            <a:avLst/>
          </a:prstGeom>
          <a:ln w="15875">
            <a:solidFill>
              <a:srgbClr val="16A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54554" y="2816352"/>
            <a:ext cx="1673900" cy="1874519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L6 Model Router</a:t>
            </a:r>
          </a:p>
          <a:p>
            <a:pPr algn="l"/>
            <a:r>
              <a:rPr sz="1000">
                <a:solidFill>
                  <a:srgbClr val="4A1E5C"/>
                </a:solidFill>
                <a:latin typeface="Segoe UI"/>
              </a:rPr>
              <a:t>Foundation · SLM
cost · latency · policy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7108307" y="2514600"/>
            <a:ext cx="164592" cy="256032"/>
          </a:xfrm>
          <a:prstGeom prst="downArrow">
            <a:avLst/>
          </a:prstGeom>
          <a:solidFill>
            <a:srgbClr val="8A94A0"/>
          </a:solidFill>
          <a:ln w="3175">
            <a:solidFill>
              <a:srgbClr val="8A9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 flipV="1">
            <a:off x="8991295" y="2496312"/>
            <a:ext cx="0" cy="320040"/>
          </a:xfrm>
          <a:prstGeom prst="line">
            <a:avLst/>
          </a:prstGeom>
          <a:ln w="15875">
            <a:solidFill>
              <a:srgbClr val="16A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20040" y="4965191"/>
            <a:ext cx="2106091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L1 Streaming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54147" y="4965191"/>
            <a:ext cx="2106091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5A4200"/>
                </a:solidFill>
                <a:latin typeface="Segoe UI"/>
              </a:rPr>
              <a:t>Response Format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2407843" y="5138927"/>
            <a:ext cx="164592" cy="201168"/>
          </a:xfrm>
          <a:prstGeom prst="lef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788255" y="4965191"/>
            <a:ext cx="2106091" cy="54864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6B1A11"/>
                </a:solidFill>
                <a:latin typeface="Segoe UI"/>
              </a:rPr>
              <a:t>L8 Guardrails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4641951" y="5138927"/>
            <a:ext cx="164592" cy="201168"/>
          </a:xfrm>
          <a:prstGeom prst="lef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7022363" y="4965191"/>
            <a:ext cx="2106091" cy="54864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6B1A11"/>
                </a:solidFill>
                <a:latin typeface="Segoe UI"/>
              </a:rPr>
              <a:t>L9 Verification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6876059" y="5138927"/>
            <a:ext cx="164592" cy="201168"/>
          </a:xfrm>
          <a:prstGeom prst="lef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Down Arrow 41"/>
          <p:cNvSpPr/>
          <p:nvPr/>
        </p:nvSpPr>
        <p:spPr>
          <a:xfrm>
            <a:off x="7974825" y="4709159"/>
            <a:ext cx="201168" cy="201168"/>
          </a:xfrm>
          <a:prstGeom prst="down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20040" y="5769863"/>
            <a:ext cx="88084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0B3D91"/>
                </a:solidFill>
                <a:latin typeface="Segoe UI"/>
              </a:rPr>
              <a:t>← Streaming response back to User  ·  same pipeline in reverse  ·  citations · redaction · verdict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94215" y="1170432"/>
            <a:ext cx="2377440" cy="45720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5A4200"/>
                </a:solidFill>
                <a:latin typeface="Segoe UI"/>
              </a:rPr>
              <a:t>Event Bus</a:t>
            </a:r>
          </a:p>
          <a:p>
            <a:pPr algn="l"/>
            <a:r>
              <a:rPr sz="1000">
                <a:solidFill>
                  <a:srgbClr val="5A4200"/>
                </a:solidFill>
                <a:latin typeface="Segoe UI"/>
              </a:rPr>
              <a:t>Kafka · Event Hub · Pub/Sub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94215" y="1764792"/>
            <a:ext cx="2377440" cy="80467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Async Workers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Long-running · batch
embedding · re-index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94215" y="2660904"/>
            <a:ext cx="2377440" cy="80467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DLQ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Dead-letter queue
poison messages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94215" y="3557016"/>
            <a:ext cx="2377440" cy="80467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Retry Queue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Exponential backoff
idempotent handlers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4215" y="4453128"/>
            <a:ext cx="2377440" cy="80467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Outbox / Saga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Reliable side-effects
exactly-once semantics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9311335" y="1399032"/>
            <a:ext cx="0" cy="1417320"/>
          </a:xfrm>
          <a:prstGeom prst="line">
            <a:avLst/>
          </a:prstGeom>
          <a:ln w="19050">
            <a:solidFill>
              <a:srgbClr val="B58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11335" y="1399032"/>
            <a:ext cx="182880" cy="0"/>
          </a:xfrm>
          <a:prstGeom prst="line">
            <a:avLst/>
          </a:prstGeom>
          <a:ln w="19050">
            <a:solidFill>
              <a:srgbClr val="B58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20040" y="6080760"/>
            <a:ext cx="3777386" cy="43891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50" b="1">
                <a:solidFill>
                  <a:srgbClr val="5A4200"/>
                </a:solidFill>
                <a:latin typeface="Segoe UI"/>
              </a:rPr>
              <a:t>L10  Observability Plane</a:t>
            </a:r>
          </a:p>
          <a:p>
            <a:pPr algn="l"/>
            <a:r>
              <a:rPr sz="900">
                <a:solidFill>
                  <a:srgbClr val="5A4200"/>
                </a:solidFill>
                <a:latin typeface="Segoe UI"/>
              </a:rPr>
              <a:t>OpenTelemetry · traces · metrics · logs · token/cost accounting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7154" y="6080760"/>
            <a:ext cx="3777386" cy="43891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50" b="1">
                <a:solidFill>
                  <a:srgbClr val="5A4200"/>
                </a:solidFill>
                <a:latin typeface="Segoe UI"/>
              </a:rPr>
              <a:t>L13  Security Plane</a:t>
            </a:r>
          </a:p>
          <a:p>
            <a:pPr algn="l"/>
            <a:r>
              <a:rPr sz="900">
                <a:solidFill>
                  <a:srgbClr val="5A4200"/>
                </a:solidFill>
                <a:latin typeface="Segoe UI"/>
              </a:rPr>
              <a:t>Zero trust · IAM · secrets · encryption · threat detection · policy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4268" y="6080760"/>
            <a:ext cx="3777386" cy="438912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50" b="1">
                <a:solidFill>
                  <a:srgbClr val="5A4200"/>
                </a:solidFill>
                <a:latin typeface="Segoe UI"/>
              </a:rPr>
              <a:t>L15  Cost &amp; Value Plane</a:t>
            </a:r>
          </a:p>
          <a:p>
            <a:pPr algn="l"/>
            <a:r>
              <a:rPr sz="900">
                <a:solidFill>
                  <a:srgbClr val="5A4200"/>
                </a:solidFill>
                <a:latin typeface="Segoe UI"/>
              </a:rPr>
              <a:t>Token budgets · autoscaling · GPU scheduling · load shedding · backpressure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Solid arrows = request path  ·  Dashed teal = response  ·  Dashed amber = async / eventing  ·  Bottom strip = cross-cutting planes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Runtime sequence  ·  request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516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A6470"/>
                </a:solidFill>
                <a:latin typeface="Segoe UI"/>
              </a:rPr>
              <a:t>One request across the actors that actually cooperate at runtime. Read top-to-bottom; each arrow is a real hop with real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" y="1280160"/>
            <a:ext cx="1306791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0B3D91"/>
                </a:solidFill>
                <a:latin typeface="Segoe UI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2015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32571" y="1280160"/>
            <a:ext cx="1306791" cy="50292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4A1E5C"/>
                </a:solidFill>
                <a:latin typeface="Segoe UI"/>
              </a:rPr>
              <a:t>AI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5967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76523" y="1280160"/>
            <a:ext cx="1306791" cy="50292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1B2A3A"/>
                </a:solidFill>
                <a:latin typeface="Segoe UI"/>
              </a:rPr>
              <a:t>Planner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29919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20475" y="1280160"/>
            <a:ext cx="1306791" cy="50292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0B5C4B"/>
                </a:solidFill>
                <a:latin typeface="Segoe UI"/>
              </a:rPr>
              <a:t>Memory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73871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64427" y="1280160"/>
            <a:ext cx="1306791" cy="50292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0B5C4B"/>
                </a:solidFill>
                <a:latin typeface="Segoe UI"/>
              </a:rPr>
              <a:t>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7823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08379" y="1280160"/>
            <a:ext cx="1306791" cy="50292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4A1E5C"/>
                </a:solidFill>
                <a:latin typeface="Segoe UI"/>
              </a:rPr>
              <a:t>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61775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331" y="1280160"/>
            <a:ext cx="1306791" cy="50292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0B5C4B"/>
                </a:solidFill>
                <a:latin typeface="Segoe UI"/>
              </a:rPr>
              <a:t>Tools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05727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496283" y="1280160"/>
            <a:ext cx="1306791" cy="50292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>
                <a:solidFill>
                  <a:srgbClr val="6B1A11"/>
                </a:solidFill>
                <a:latin typeface="Segoe UI"/>
              </a:rPr>
              <a:t>Verification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149679" y="1783080"/>
            <a:ext cx="0" cy="40690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2015" y="1920240"/>
            <a:ext cx="1443952" cy="0"/>
          </a:xfrm>
          <a:prstGeom prst="line">
            <a:avLst/>
          </a:prstGeom>
          <a:ln w="22225">
            <a:solidFill>
              <a:srgbClr val="3B7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2321375" y="1819656"/>
            <a:ext cx="164592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87735" y="1700784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B7DDD"/>
                </a:solidFill>
                <a:latin typeface="Segoe UI"/>
              </a:rPr>
              <a:t>1  request + auth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85967" y="2184762"/>
            <a:ext cx="1443952" cy="0"/>
          </a:xfrm>
          <a:prstGeom prst="line">
            <a:avLst/>
          </a:prstGeom>
          <a:ln w="22225">
            <a:solidFill>
              <a:srgbClr val="3B7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Arrow 26"/>
          <p:cNvSpPr/>
          <p:nvPr/>
        </p:nvSpPr>
        <p:spPr>
          <a:xfrm>
            <a:off x="3765327" y="2084178"/>
            <a:ext cx="164592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531687" y="1965306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B7DDD"/>
                </a:solidFill>
                <a:latin typeface="Segoe UI"/>
              </a:rPr>
              <a:t>2  policy pass · plan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29919" y="2449285"/>
            <a:ext cx="1443952" cy="0"/>
          </a:xfrm>
          <a:prstGeom prst="line">
            <a:avLst/>
          </a:prstGeom>
          <a:ln w="22225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5209279" y="2348701"/>
            <a:ext cx="164592" cy="201168"/>
          </a:xfrm>
          <a:prstGeom prst="rightArrow">
            <a:avLst/>
          </a:prstGeom>
          <a:solidFill>
            <a:srgbClr val="16A085"/>
          </a:solidFill>
          <a:ln w="31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975639" y="2229829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  <a:latin typeface="Segoe UI"/>
              </a:rPr>
              <a:t>3  fetch session + memory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29919" y="2713808"/>
            <a:ext cx="1443952" cy="0"/>
          </a:xfrm>
          <a:prstGeom prst="line">
            <a:avLst/>
          </a:prstGeom>
          <a:ln w="22225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Left Arrow 32"/>
          <p:cNvSpPr/>
          <p:nvPr/>
        </p:nvSpPr>
        <p:spPr>
          <a:xfrm>
            <a:off x="3929919" y="2613224"/>
            <a:ext cx="164592" cy="201168"/>
          </a:xfrm>
          <a:prstGeom prst="leftArrow">
            <a:avLst/>
          </a:prstGeom>
          <a:solidFill>
            <a:srgbClr val="16A085"/>
          </a:solidFill>
          <a:ln w="31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12799" y="2494352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  <a:latin typeface="Segoe UI"/>
              </a:rPr>
              <a:t>     history + profile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29919" y="2978331"/>
            <a:ext cx="2887904" cy="0"/>
          </a:xfrm>
          <a:prstGeom prst="line">
            <a:avLst/>
          </a:prstGeom>
          <a:ln w="22225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6653231" y="2877747"/>
            <a:ext cx="164592" cy="201168"/>
          </a:xfrm>
          <a:prstGeom prst="rightArrow">
            <a:avLst/>
          </a:prstGeom>
          <a:solidFill>
            <a:srgbClr val="16A085"/>
          </a:solidFill>
          <a:ln w="31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975639" y="2758875"/>
            <a:ext cx="26593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  <a:latin typeface="Segoe UI"/>
              </a:rPr>
              <a:t>4  retrieve (vector · BM25 · graph)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29919" y="3242854"/>
            <a:ext cx="2887904" cy="0"/>
          </a:xfrm>
          <a:prstGeom prst="line">
            <a:avLst/>
          </a:prstGeom>
          <a:ln w="22225">
            <a:solidFill>
              <a:srgbClr val="16A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ft Arrow 38"/>
          <p:cNvSpPr/>
          <p:nvPr/>
        </p:nvSpPr>
        <p:spPr>
          <a:xfrm>
            <a:off x="3929919" y="3142270"/>
            <a:ext cx="164592" cy="201168"/>
          </a:xfrm>
          <a:prstGeom prst="leftArrow">
            <a:avLst/>
          </a:prstGeom>
          <a:solidFill>
            <a:srgbClr val="16A085"/>
          </a:solidFill>
          <a:ln w="31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112799" y="3023398"/>
            <a:ext cx="26593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6A085"/>
                </a:solidFill>
                <a:latin typeface="Segoe UI"/>
              </a:rPr>
              <a:t>     ranked chunks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29919" y="3507377"/>
            <a:ext cx="4331856" cy="0"/>
          </a:xfrm>
          <a:prstGeom prst="line">
            <a:avLst/>
          </a:prstGeom>
          <a:ln w="22225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ight Arrow 41"/>
          <p:cNvSpPr/>
          <p:nvPr/>
        </p:nvSpPr>
        <p:spPr>
          <a:xfrm>
            <a:off x="8097183" y="3406793"/>
            <a:ext cx="164592" cy="201168"/>
          </a:xfrm>
          <a:prstGeom prst="rightArrow">
            <a:avLst/>
          </a:prstGeom>
          <a:solidFill>
            <a:srgbClr val="8E44AD"/>
          </a:solidFill>
          <a:ln w="3175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975639" y="3287921"/>
            <a:ext cx="41032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  <a:latin typeface="Segoe UI"/>
              </a:rPr>
              <a:t>5  prompt + input guardrails · call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29919" y="3771900"/>
            <a:ext cx="4331856" cy="0"/>
          </a:xfrm>
          <a:prstGeom prst="line">
            <a:avLst/>
          </a:prstGeom>
          <a:ln w="22225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Left Arrow 44"/>
          <p:cNvSpPr/>
          <p:nvPr/>
        </p:nvSpPr>
        <p:spPr>
          <a:xfrm>
            <a:off x="3929919" y="3671316"/>
            <a:ext cx="164592" cy="201168"/>
          </a:xfrm>
          <a:prstGeom prst="leftArrow">
            <a:avLst/>
          </a:prstGeom>
          <a:solidFill>
            <a:srgbClr val="8E44AD"/>
          </a:solidFill>
          <a:ln w="3175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112799" y="3552444"/>
            <a:ext cx="41032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  <a:latin typeface="Segoe UI"/>
              </a:rPr>
              <a:t>     draft answer + tool calls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929919" y="4036422"/>
            <a:ext cx="5775808" cy="0"/>
          </a:xfrm>
          <a:prstGeom prst="line">
            <a:avLst/>
          </a:prstGeom>
          <a:ln w="22225">
            <a:solidFill>
              <a:srgbClr val="B58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9541135" y="3935838"/>
            <a:ext cx="164592" cy="201168"/>
          </a:xfrm>
          <a:prstGeom prst="rightArrow">
            <a:avLst/>
          </a:prstGeom>
          <a:solidFill>
            <a:srgbClr val="B58900"/>
          </a:solidFill>
          <a:ln w="3175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975639" y="3816966"/>
            <a:ext cx="5547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58900"/>
                </a:solidFill>
                <a:latin typeface="Segoe UI"/>
              </a:rPr>
              <a:t>6  execute tool (MCP · impact class)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29919" y="4300945"/>
            <a:ext cx="5775808" cy="0"/>
          </a:xfrm>
          <a:prstGeom prst="line">
            <a:avLst/>
          </a:prstGeom>
          <a:ln w="22225">
            <a:solidFill>
              <a:srgbClr val="B58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Left Arrow 50"/>
          <p:cNvSpPr/>
          <p:nvPr/>
        </p:nvSpPr>
        <p:spPr>
          <a:xfrm>
            <a:off x="3929919" y="4200361"/>
            <a:ext cx="164592" cy="201168"/>
          </a:xfrm>
          <a:prstGeom prst="leftArrow">
            <a:avLst/>
          </a:prstGeom>
          <a:solidFill>
            <a:srgbClr val="B58900"/>
          </a:solidFill>
          <a:ln w="3175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112799" y="4081489"/>
            <a:ext cx="55472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58900"/>
                </a:solidFill>
                <a:latin typeface="Segoe UI"/>
              </a:rPr>
              <a:t>     tool result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929919" y="4565468"/>
            <a:ext cx="7219760" cy="0"/>
          </a:xfrm>
          <a:prstGeom prst="line">
            <a:avLst/>
          </a:prstGeom>
          <a:ln w="222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ight Arrow 53"/>
          <p:cNvSpPr/>
          <p:nvPr/>
        </p:nvSpPr>
        <p:spPr>
          <a:xfrm>
            <a:off x="10985087" y="4464884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975639" y="4346012"/>
            <a:ext cx="6991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Segoe UI"/>
              </a:rPr>
              <a:t>7  verify (ground · cite · policy)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929919" y="4829991"/>
            <a:ext cx="7219760" cy="0"/>
          </a:xfrm>
          <a:prstGeom prst="line">
            <a:avLst/>
          </a:prstGeom>
          <a:ln w="222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Arrow 56"/>
          <p:cNvSpPr/>
          <p:nvPr/>
        </p:nvSpPr>
        <p:spPr>
          <a:xfrm>
            <a:off x="3929919" y="4729407"/>
            <a:ext cx="164592" cy="201168"/>
          </a:xfrm>
          <a:prstGeom prst="lef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112799" y="4610535"/>
            <a:ext cx="6991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Segoe UI"/>
              </a:rPr>
              <a:t>     verdict + citations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485967" y="5094514"/>
            <a:ext cx="1443952" cy="0"/>
          </a:xfrm>
          <a:prstGeom prst="line">
            <a:avLst/>
          </a:prstGeom>
          <a:ln w="22225">
            <a:solidFill>
              <a:srgbClr val="3B7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eft Arrow 59"/>
          <p:cNvSpPr/>
          <p:nvPr/>
        </p:nvSpPr>
        <p:spPr>
          <a:xfrm>
            <a:off x="2485967" y="4993930"/>
            <a:ext cx="164592" cy="201168"/>
          </a:xfrm>
          <a:prstGeom prst="lef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2668847" y="4875058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B7DDD"/>
                </a:solidFill>
                <a:latin typeface="Segoe UI"/>
              </a:rPr>
              <a:t>8  final response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42015" y="5359037"/>
            <a:ext cx="1443952" cy="0"/>
          </a:xfrm>
          <a:prstGeom prst="line">
            <a:avLst/>
          </a:prstGeom>
          <a:ln w="22225">
            <a:solidFill>
              <a:srgbClr val="3B7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eft Arrow 62"/>
          <p:cNvSpPr/>
          <p:nvPr/>
        </p:nvSpPr>
        <p:spPr>
          <a:xfrm>
            <a:off x="1042015" y="5258453"/>
            <a:ext cx="164592" cy="201168"/>
          </a:xfrm>
          <a:prstGeom prst="lef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224895" y="5139581"/>
            <a:ext cx="1215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B7DDD"/>
                </a:solidFill>
                <a:latin typeface="Segoe UI"/>
              </a:rPr>
              <a:t>9  stream response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Sequence diagram · not a layered stack. Every arrow is a hop, a timeout, a retry, an SLO. Solid arrow = call ·  return arrow =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Four trust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Every request crosses four boundaries. Each has its own attackers, controls, and failure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63040"/>
            <a:ext cx="1218488" cy="64008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0B3D91"/>
                </a:solidFill>
                <a:latin typeface="Segoe UI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1680" y="1463040"/>
            <a:ext cx="1218488" cy="64008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0B3D91"/>
                </a:solidFill>
                <a:latin typeface="Segoe UI"/>
              </a:rPr>
              <a:t>L0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3321" y="1463040"/>
            <a:ext cx="1218488" cy="64008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0B3D91"/>
                </a:solidFill>
                <a:latin typeface="Segoe UI"/>
              </a:rPr>
              <a:t>L1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4962" y="1463040"/>
            <a:ext cx="1218488" cy="64008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1B2A3A"/>
                </a:solidFill>
                <a:latin typeface="Segoe UI"/>
              </a:rPr>
              <a:t>L2 Orch.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603" y="1463040"/>
            <a:ext cx="1218488" cy="64008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1B2A3A"/>
                </a:solidFill>
                <a:latin typeface="Segoe UI"/>
              </a:rPr>
              <a:t>L3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8243" y="1463040"/>
            <a:ext cx="1218488" cy="64008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4A1E5C"/>
                </a:solidFill>
                <a:latin typeface="Segoe UI"/>
              </a:rPr>
              <a:t>L6 Model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9884" y="1463040"/>
            <a:ext cx="1218488" cy="64008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0B5C4B"/>
                </a:solidFill>
                <a:latin typeface="Segoe UI"/>
              </a:rPr>
              <a:t>L7 Tool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1525" y="1463040"/>
            <a:ext cx="1218488" cy="64008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6B1A11"/>
                </a:solidFill>
                <a:latin typeface="Segoe UI"/>
              </a:rPr>
              <a:t>L8 Guard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3166" y="1463040"/>
            <a:ext cx="1218488" cy="64008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>
                <a:solidFill>
                  <a:srgbClr val="6B1A11"/>
                </a:solidFill>
                <a:latin typeface="Segoe UI"/>
              </a:rPr>
              <a:t>L9 Verify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77440"/>
            <a:ext cx="2468880" cy="88011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TB-A · Edge Boundary</a:t>
            </a:r>
          </a:p>
          <a:p>
            <a:pPr algn="l"/>
            <a:r>
              <a:rPr sz="1000">
                <a:solidFill>
                  <a:srgbClr val="FFECEB"/>
                </a:solidFill>
                <a:latin typeface="Segoe UI"/>
              </a:rPr>
              <a:t>untrusted → trusted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77440"/>
            <a:ext cx="8991295" cy="88011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Controls at this boundary</a:t>
            </a:r>
          </a:p>
          <a:p>
            <a:pPr algn="l"/>
            <a:r>
              <a:rPr sz="1100">
                <a:solidFill>
                  <a:srgbClr val="6B1A11"/>
                </a:solidFill>
                <a:latin typeface="Segoe UI"/>
              </a:rPr>
              <a:t>AuthN / AuthZ · WAF · rate limit · request validation · 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394710"/>
            <a:ext cx="2468880" cy="880110"/>
          </a:xfrm>
          <a:prstGeom prst="roundRect">
            <a:avLst/>
          </a:prstGeom>
          <a:solidFill>
            <a:srgbClr val="8E44AD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TB-C · Model Boundary</a:t>
            </a:r>
          </a:p>
          <a:p>
            <a:pPr algn="l"/>
            <a:r>
              <a:rPr sz="1000">
                <a:solidFill>
                  <a:srgbClr val="FFECEB"/>
                </a:solidFill>
                <a:latin typeface="Segoe UI"/>
              </a:rPr>
              <a:t>internal → provider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394710"/>
            <a:ext cx="8991295" cy="88011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Controls at this boundary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Model registry · egress policy · prompt-inject defence · content filters · cost cap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411980"/>
            <a:ext cx="2468880" cy="880110"/>
          </a:xfrm>
          <a:prstGeom prst="roundRect">
            <a:avLst/>
          </a:prstGeom>
          <a:solidFill>
            <a:srgbClr val="16A08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TB-D · Action Boundary</a:t>
            </a:r>
          </a:p>
          <a:p>
            <a:pPr algn="l"/>
            <a:r>
              <a:rPr sz="1000">
                <a:solidFill>
                  <a:srgbClr val="FFECEB"/>
                </a:solidFill>
                <a:latin typeface="Segoe UI"/>
              </a:rPr>
              <a:t>reasoning → real world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411980"/>
            <a:ext cx="8991295" cy="88011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Controls at this boundary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Tool registry · impact class · argument guardrails · HITL approval ·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429250"/>
            <a:ext cx="2468880" cy="88011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TB-B · Response Boundary</a:t>
            </a:r>
          </a:p>
          <a:p>
            <a:pPr algn="l"/>
            <a:r>
              <a:rPr sz="1000">
                <a:solidFill>
                  <a:srgbClr val="FFECEB"/>
                </a:solidFill>
                <a:latin typeface="Segoe UI"/>
              </a:rPr>
              <a:t>internal → observable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5429250"/>
            <a:ext cx="8991295" cy="88011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Controls at this boundary</a:t>
            </a:r>
          </a:p>
          <a:p>
            <a:pPr algn="l"/>
            <a:r>
              <a:rPr sz="1100">
                <a:solidFill>
                  <a:srgbClr val="6B1A11"/>
                </a:solidFill>
                <a:latin typeface="Segoe UI"/>
              </a:rPr>
              <a:t>Output guardrails · verification verdict · PII redaction · citation ·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L9 · Verification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Verification ≠ evaluation. Every model output passes through this pipeline before it reaches the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Grounding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Is every claim supported by retrieved context?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1033272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09662" y="2253995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655966" y="1417320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Citation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Are sources attached, valid, resolvable?</a:t>
            </a:r>
          </a:p>
        </p:txBody>
      </p:sp>
      <p:sp>
        <p:nvSpPr>
          <p:cNvPr id="11" name="Oval 10"/>
          <p:cNvSpPr/>
          <p:nvPr/>
        </p:nvSpPr>
        <p:spPr>
          <a:xfrm>
            <a:off x="2765694" y="1033272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5588" y="2253995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991892" y="1417320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Semantic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Does the answer address the actual question?</a:t>
            </a:r>
          </a:p>
        </p:txBody>
      </p:sp>
      <p:sp>
        <p:nvSpPr>
          <p:cNvPr id="14" name="Oval 13"/>
          <p:cNvSpPr/>
          <p:nvPr/>
        </p:nvSpPr>
        <p:spPr>
          <a:xfrm>
            <a:off x="5101620" y="1033272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81514" y="2253995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327818" y="1417320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Constraint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Structural: schema · format · length · language.</a:t>
            </a:r>
          </a:p>
        </p:txBody>
      </p:sp>
      <p:sp>
        <p:nvSpPr>
          <p:cNvPr id="17" name="Oval 16"/>
          <p:cNvSpPr/>
          <p:nvPr/>
        </p:nvSpPr>
        <p:spPr>
          <a:xfrm>
            <a:off x="7437546" y="1033272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17440" y="2253995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663744" y="1417320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Execution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Generated code / SQL executes without harm.</a:t>
            </a:r>
          </a:p>
        </p:txBody>
      </p:sp>
      <p:sp>
        <p:nvSpPr>
          <p:cNvPr id="20" name="Oval 19"/>
          <p:cNvSpPr/>
          <p:nvPr/>
        </p:nvSpPr>
        <p:spPr>
          <a:xfrm>
            <a:off x="9773472" y="1033272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794759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Policy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Enterprise policy · role · jurisdiction · data class.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" y="3410711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09662" y="4631434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655966" y="3794759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Safety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Toxicity · self-harm · CSAM · disallowed content.</a:t>
            </a:r>
          </a:p>
        </p:txBody>
      </p:sp>
      <p:sp>
        <p:nvSpPr>
          <p:cNvPr id="25" name="Oval 24"/>
          <p:cNvSpPr/>
          <p:nvPr/>
        </p:nvSpPr>
        <p:spPr>
          <a:xfrm>
            <a:off x="2765694" y="3410711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845588" y="4631434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991892" y="3794759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Business Rules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Pricing · discount · escalation · SLA guardrails.</a:t>
            </a:r>
          </a:p>
        </p:txBody>
      </p:sp>
      <p:sp>
        <p:nvSpPr>
          <p:cNvPr id="28" name="Oval 27"/>
          <p:cNvSpPr/>
          <p:nvPr/>
        </p:nvSpPr>
        <p:spPr>
          <a:xfrm>
            <a:off x="5101620" y="3410711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81514" y="4631434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327818" y="3794759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Confidence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Calibrated uncertainty score · abstain threshold.</a:t>
            </a:r>
          </a:p>
        </p:txBody>
      </p:sp>
      <p:sp>
        <p:nvSpPr>
          <p:cNvPr id="31" name="Oval 30"/>
          <p:cNvSpPr/>
          <p:nvPr/>
        </p:nvSpPr>
        <p:spPr>
          <a:xfrm>
            <a:off x="7437546" y="3410711"/>
            <a:ext cx="548640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517440" y="4631434"/>
            <a:ext cx="164592" cy="201168"/>
          </a:xfrm>
          <a:prstGeom prst="right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663744" y="3794759"/>
            <a:ext cx="2207910" cy="1874519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Approval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HITL for high-impact · async review queue.</a:t>
            </a:r>
          </a:p>
        </p:txBody>
      </p:sp>
      <p:sp>
        <p:nvSpPr>
          <p:cNvPr id="34" name="Oval 33"/>
          <p:cNvSpPr/>
          <p:nvPr/>
        </p:nvSpPr>
        <p:spPr>
          <a:xfrm>
            <a:off x="9773472" y="3410711"/>
            <a:ext cx="713232" cy="5486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10667115" y="3428999"/>
            <a:ext cx="201168" cy="228600"/>
          </a:xfrm>
          <a:prstGeom prst="down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 flipH="1">
            <a:off x="1423995" y="3657599"/>
            <a:ext cx="9343704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own Arrow 36"/>
          <p:cNvSpPr/>
          <p:nvPr/>
        </p:nvSpPr>
        <p:spPr>
          <a:xfrm>
            <a:off x="1323411" y="3657599"/>
            <a:ext cx="201168" cy="228600"/>
          </a:xfrm>
          <a:prstGeom prst="downArrow">
            <a:avLst/>
          </a:prstGeom>
          <a:solidFill>
            <a:srgbClr val="C0392B"/>
          </a:solidFill>
          <a:ln w="31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Any stage may VETO · abstain · escalate to HITL · downgrade confidence · request re-generation.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Control · Data · Management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Enterprise AI has three planes — just like Kubernetes. Confusing them is how governance, cost and reliability go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3728618" cy="493776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64592" bIns="128016" wrap="square"/>
          <a:lstStyle/>
          <a:p>
            <a:pPr algn="l"/>
            <a:r>
              <a:rPr sz="1800" b="1">
                <a:solidFill>
                  <a:srgbClr val="1B2A3A"/>
                </a:solidFill>
                <a:latin typeface="Segoe UI"/>
              </a:rPr>
              <a:t>Control Plane</a:t>
            </a:r>
          </a:p>
          <a:p>
            <a:pPr algn="l"/>
            <a:r>
              <a:rPr sz="1100" i="1">
                <a:solidFill>
                  <a:srgbClr val="1B2A3A"/>
                </a:solidFill>
                <a:latin typeface="Segoe UI"/>
              </a:rPr>
              <a:t>Decides · governs · configures</a:t>
            </a:r>
          </a:p>
          <a:p>
            <a:r>
              <a:rPr sz="400"/>
              <a:t> 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Policy Engine (OPA · Cedar)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Configuration store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Model Registry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Prompt Registry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Workflow Registry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Tool Registry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Feature Flags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Model routing rules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Rate-limit + quota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1538" y="1417320"/>
            <a:ext cx="3728618" cy="49377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64592" bIns="128016" wrap="square"/>
          <a:lstStyle/>
          <a:p>
            <a:pPr algn="l"/>
            <a:r>
              <a:rPr sz="1800" b="1">
                <a:solidFill>
                  <a:srgbClr val="0B5C4B"/>
                </a:solidFill>
                <a:latin typeface="Segoe UI"/>
              </a:rPr>
              <a:t>Data Plane</a:t>
            </a:r>
          </a:p>
          <a:p>
            <a:pPr algn="l"/>
            <a:r>
              <a:rPr sz="1100" i="1">
                <a:solidFill>
                  <a:srgbClr val="0B5C4B"/>
                </a:solidFill>
                <a:latin typeface="Segoe UI"/>
              </a:rPr>
              <a:t>Runs · executes · serves traffic</a:t>
            </a:r>
          </a:p>
          <a:p>
            <a:r>
              <a:rPr sz="400"/>
              <a:t> 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Prompts &amp; context assembly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Embeddings &amp; retrieval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Model inference calls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Tool executions (MCP)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Verification checkers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Guardrail evaluators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Streaming responses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Cache reads / writes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Event bus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3036" y="1417320"/>
            <a:ext cx="3728618" cy="4937760"/>
          </a:xfrm>
          <a:prstGeom prst="roundRect">
            <a:avLst/>
          </a:prstGeom>
          <a:solidFill>
            <a:srgbClr val="FFF6E5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64592" bIns="128016" wrap="square"/>
          <a:lstStyle/>
          <a:p>
            <a:pPr algn="l"/>
            <a:r>
              <a:rPr sz="1800" b="1">
                <a:solidFill>
                  <a:srgbClr val="5A4200"/>
                </a:solidFill>
                <a:latin typeface="Segoe UI"/>
              </a:rPr>
              <a:t>Management Plane</a:t>
            </a:r>
          </a:p>
          <a:p>
            <a:pPr algn="l"/>
            <a:r>
              <a:rPr sz="1100" i="1">
                <a:solidFill>
                  <a:srgbClr val="5A4200"/>
                </a:solidFill>
                <a:latin typeface="Segoe UI"/>
              </a:rPr>
              <a:t>Observes · pays · improves</a:t>
            </a:r>
          </a:p>
          <a:p>
            <a:r>
              <a:rPr sz="400"/>
              <a:t> 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CI / CD pipelines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OpenTelemetry traces &amp; metrics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Cost dashboards &amp; budgets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Alerting &amp; on-call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Governance &amp; audit logs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Compliance evidence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AI Platform eval &amp; benchmarks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Incident response</a:t>
            </a:r>
          </a:p>
          <a:p>
            <a:pPr algn="l"/>
            <a:r>
              <a:rPr sz="1100">
                <a:solidFill>
                  <a:srgbClr val="5A4200"/>
                </a:solidFill>
                <a:latin typeface="Segoe UI"/>
              </a:rPr>
              <a:t>•  Capacity + quota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Platform services  ·  the middle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Between the AI reasoning layer and cloud infrastructure sits a platform layer of shared, stateful services. Enterprise AI stands or falls on this middle.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2791891" cy="1575816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L11 Cache Manager</a:t>
            </a:r>
          </a:p>
          <a:p>
            <a:pPr algn="l"/>
            <a:r>
              <a:rPr sz="1050">
                <a:solidFill>
                  <a:srgbClr val="5A4200"/>
                </a:solidFill>
                <a:latin typeface="Segoe UI"/>
              </a:rPr>
              <a:t>Prompt · semantic · embedding
memory · response caches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9947" y="1417320"/>
            <a:ext cx="2791891" cy="1575816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Kafka / Event Bus</a:t>
            </a:r>
          </a:p>
          <a:p>
            <a:pPr algn="l"/>
            <a:r>
              <a:rPr sz="1050">
                <a:solidFill>
                  <a:srgbClr val="5A4200"/>
                </a:solidFill>
                <a:latin typeface="Segoe UI"/>
              </a:rPr>
              <a:t>Async pipelines · streaming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9855" y="1417320"/>
            <a:ext cx="2791891" cy="1575816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Scheduler</a:t>
            </a:r>
          </a:p>
          <a:p>
            <a:pPr algn="l"/>
            <a:r>
              <a:rPr sz="1050">
                <a:solidFill>
                  <a:srgbClr val="1B2A3A"/>
                </a:solidFill>
                <a:latin typeface="Segoe UI"/>
              </a:rPr>
              <a:t>Cron · workflows · DAGs · Airflow / Argo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763" y="1417320"/>
            <a:ext cx="2791891" cy="1575816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Configuration</a:t>
            </a:r>
          </a:p>
          <a:p>
            <a:pPr algn="l"/>
            <a:r>
              <a:rPr sz="1050">
                <a:solidFill>
                  <a:srgbClr val="1B2A3A"/>
                </a:solidFill>
                <a:latin typeface="Segoe UI"/>
              </a:rPr>
              <a:t>App Config · Consul · git-versioned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121152"/>
            <a:ext cx="2791891" cy="1575816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Secrets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Key Vault · Vault · KMS · rotation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9947" y="3121152"/>
            <a:ext cx="2791891" cy="1575816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Feature Flags</a:t>
            </a:r>
          </a:p>
          <a:p>
            <a:pPr algn="l"/>
            <a:r>
              <a:rPr sz="1050">
                <a:solidFill>
                  <a:srgbClr val="5A4200"/>
                </a:solidFill>
                <a:latin typeface="Segoe UI"/>
              </a:rPr>
              <a:t>Progressive delivery · kill-switches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9855" y="3121152"/>
            <a:ext cx="2791891" cy="1575816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5C4B"/>
                </a:solidFill>
                <a:latin typeface="Segoe UI"/>
              </a:rPr>
              <a:t>Workflow Registry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Named agents · SOPs · replayable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763" y="3121152"/>
            <a:ext cx="2791891" cy="1575816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5C4B"/>
                </a:solidFill>
                <a:latin typeface="Segoe UI"/>
              </a:rPr>
              <a:t>Prompt Registry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Versioned prompts · A/B · rollback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824984"/>
            <a:ext cx="2791891" cy="1575816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Policy Engine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OPA · Cedar · content + tool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9947" y="4824984"/>
            <a:ext cx="2791891" cy="1575816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Artifact Registry</a:t>
            </a:r>
          </a:p>
          <a:p>
            <a:pPr algn="l"/>
            <a:r>
              <a:rPr sz="1050">
                <a:solidFill>
                  <a:srgbClr val="1B2A3A"/>
                </a:solidFill>
                <a:latin typeface="Segoe UI"/>
              </a:rPr>
              <a:t>Signed containers · SBOM · attestations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9855" y="4824984"/>
            <a:ext cx="2791891" cy="1575816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4A1E5C"/>
                </a:solidFill>
                <a:latin typeface="Segoe UI"/>
              </a:rPr>
              <a:t>Model Registry</a:t>
            </a:r>
          </a:p>
          <a:p>
            <a:pPr algn="l"/>
            <a:r>
              <a:rPr sz="1050">
                <a:solidFill>
                  <a:srgbClr val="4A1E5C"/>
                </a:solidFill>
                <a:latin typeface="Segoe UI"/>
              </a:rPr>
              <a:t>Foundation · fine-tuned · shadow · prod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763" y="4824984"/>
            <a:ext cx="2791891" cy="1575816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5C4B"/>
                </a:solidFill>
                <a:latin typeface="Segoe UI"/>
              </a:rPr>
              <a:t>Tool Registry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MCP servers · impact class · rate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Deployment view  ·  physical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Logical architecture ≠ deployment architecture. Here is what actually runs, autoscales and pages someone at 3 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2791891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Internet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3643" y="1476756"/>
            <a:ext cx="164592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239947" y="1325880"/>
            <a:ext cx="2791891" cy="50292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Front Door / CDN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3551" y="1476756"/>
            <a:ext cx="164592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159855" y="1325880"/>
            <a:ext cx="2791891" cy="50292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6B1A11"/>
                </a:solidFill>
                <a:latin typeface="Segoe UI"/>
              </a:rPr>
              <a:t>WAF · DDoS · Bot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33459" y="1476756"/>
            <a:ext cx="164592" cy="201168"/>
          </a:xfrm>
          <a:prstGeom prst="rightArrow">
            <a:avLst/>
          </a:prstGeom>
          <a:solidFill>
            <a:srgbClr val="3B7DDD"/>
          </a:solidFill>
          <a:ln w="31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079763" y="1325880"/>
            <a:ext cx="2791891" cy="50292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6B1A11"/>
                </a:solidFill>
                <a:latin typeface="Segoe UI"/>
              </a:rPr>
              <a:t>Private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48840"/>
            <a:ext cx="11551615" cy="2194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tIns="91440" rIns="137160" bIns="91440" wrap="square"/>
          <a:lstStyle/>
          <a:p>
            <a:pPr algn="l"/>
            <a:r>
              <a:rPr sz="1200" b="1">
                <a:solidFill>
                  <a:srgbClr val="1B2A3A"/>
                </a:solidFill>
                <a:latin typeface="Segoe UI"/>
              </a:rPr>
              <a:t>AKS  ·  Container Apps  ·  (or  ECS · GKE · K8s)   —   HPA + KEDA + GPU scheduler + PodDisruptionBudget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2167676" cy="150876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Gateway pods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APIM sidecar
5–50 replicas
HPA on RPS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4604" y="2651760"/>
            <a:ext cx="2167676" cy="150876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Orchestrator pods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Container Apps
3–30 replicas
HPA on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2009" y="2651760"/>
            <a:ext cx="2167676" cy="150876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Agent workers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GPU nodepool
2–20 replicas
KEDA on Kafka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9413" y="2651760"/>
            <a:ext cx="2167676" cy="150876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Tool executors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Sandboxed
5–30 replicas
rate limited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6818" y="2651760"/>
            <a:ext cx="2167676" cy="150876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Verifier pods</a:t>
            </a:r>
          </a:p>
          <a:p>
            <a:pPr algn="l"/>
            <a:r>
              <a:rPr sz="950">
                <a:solidFill>
                  <a:srgbClr val="6B1A11"/>
                </a:solidFill>
                <a:latin typeface="Segoe UI"/>
              </a:rPr>
              <a:t>CPU nodepool
3–15 replicas
HPA on backlog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617720"/>
            <a:ext cx="1818589" cy="12801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Redis Enterprise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cache + rate-limit
zone-redundant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6645" y="4617720"/>
            <a:ext cx="1818589" cy="128016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Qdrant / AI Search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vector index
replicated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3250" y="4617720"/>
            <a:ext cx="1818589" cy="128016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Cosmos DB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session + memory
multi-region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4617720"/>
            <a:ext cx="1818589" cy="128016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Azure OpenAI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AOAI · Foundry
provisioned + PAYG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6460" y="4617720"/>
            <a:ext cx="1818589" cy="128016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Blob Storage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docs · attachments
lifecycle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3065" y="4617720"/>
            <a:ext cx="1818589" cy="12801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OpenTelemetry</a:t>
            </a:r>
          </a:p>
          <a:p>
            <a:pPr algn="l"/>
            <a:r>
              <a:rPr sz="950">
                <a:solidFill>
                  <a:srgbClr val="5A4200"/>
                </a:solidFill>
                <a:latin typeface="Segoe UI"/>
              </a:rPr>
              <a:t>Collector →
App Insights /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Same shape on AWS (EKS + ElastiCache + OpenSearch + Bedrock + S3 + CloudWatch) and GCP (GKE + Memorystore + Vertex + GCS + Cloud Ops).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L12 · AI Platform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5A6470"/>
                </a:solidFill>
                <a:latin typeface="Segoe UI"/>
              </a:rPr>
              <a:t>Traditional CI/CD is not enough. AI Platform Engineering adds prompt tests, eval gates, model registry, canary + shadow, cost guardrails.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200595" cy="128016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1B2A3A"/>
                </a:solidFill>
                <a:latin typeface="Segoe UI"/>
              </a:rPr>
              <a:t>Git / Repo</a:t>
            </a:r>
          </a:p>
          <a:p>
            <a:pPr algn="l"/>
            <a:r>
              <a:rPr sz="1000">
                <a:solidFill>
                  <a:srgbClr val="1B2A3A"/>
                </a:solidFill>
                <a:latin typeface="Segoe UI"/>
              </a:rPr>
              <a:t>Prompts · agents · tools · IaC · eval sets
versioned as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7795" y="1280160"/>
            <a:ext cx="2200595" cy="12801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5A4200"/>
                </a:solidFill>
                <a:latin typeface="Segoe UI"/>
              </a:rPr>
              <a:t>CI</a:t>
            </a:r>
          </a:p>
          <a:p>
            <a:pPr algn="l"/>
            <a:r>
              <a:rPr sz="1000">
                <a:solidFill>
                  <a:srgbClr val="5A4200"/>
                </a:solidFill>
                <a:latin typeface="Segoe UI"/>
              </a:rPr>
              <a:t>Lint · sec-scan · unit · prompt tests
safety tests · eval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5550" y="1280160"/>
            <a:ext cx="2200595" cy="128016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0B5C4B"/>
                </a:solidFill>
                <a:latin typeface="Segoe UI"/>
              </a:rPr>
              <a:t>Artefact Registry</a:t>
            </a:r>
          </a:p>
          <a:p>
            <a:pPr algn="l"/>
            <a:r>
              <a:rPr sz="1000">
                <a:solidFill>
                  <a:srgbClr val="0B5C4B"/>
                </a:solidFill>
                <a:latin typeface="Segoe UI"/>
              </a:rPr>
              <a:t>Signed containers · pinned models
prompt versions · SBOM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280160"/>
            <a:ext cx="2200595" cy="128016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4A1E5C"/>
                </a:solidFill>
                <a:latin typeface="Segoe UI"/>
              </a:rPr>
              <a:t>CD</a:t>
            </a:r>
          </a:p>
          <a:p>
            <a:pPr algn="l"/>
            <a:r>
              <a:rPr sz="1000">
                <a:solidFill>
                  <a:srgbClr val="4A1E5C"/>
                </a:solidFill>
                <a:latin typeface="Segoe UI"/>
              </a:rPr>
              <a:t>Blue / Green · Canary · Shadow
Rollback · progressive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1060" y="1280160"/>
            <a:ext cx="2200595" cy="128016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300" b="1">
                <a:solidFill>
                  <a:srgbClr val="6B1A11"/>
                </a:solidFill>
                <a:latin typeface="Segoe UI"/>
              </a:rPr>
              <a:t>Runtime</a:t>
            </a:r>
          </a:p>
          <a:p>
            <a:pPr algn="l"/>
            <a:r>
              <a:rPr sz="1000">
                <a:solidFill>
                  <a:srgbClr val="6B1A11"/>
                </a:solidFill>
                <a:latin typeface="Segoe UI"/>
              </a:rPr>
              <a:t>Continuous eval · drift · cost cap
incident + rollback triggers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635" y="1920240"/>
            <a:ext cx="137160" cy="0"/>
          </a:xfrm>
          <a:prstGeom prst="line">
            <a:avLst/>
          </a:prstGeom>
          <a:ln w="22225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58390" y="1920240"/>
            <a:ext cx="137160" cy="0"/>
          </a:xfrm>
          <a:prstGeom prst="line">
            <a:avLst/>
          </a:prstGeom>
          <a:ln w="22225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96145" y="1920240"/>
            <a:ext cx="137160" cy="0"/>
          </a:xfrm>
          <a:prstGeom prst="line">
            <a:avLst/>
          </a:prstGeom>
          <a:ln w="22225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33900" y="1920240"/>
            <a:ext cx="137160" cy="0"/>
          </a:xfrm>
          <a:prstGeom prst="line">
            <a:avLst/>
          </a:prstGeom>
          <a:ln w="22225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3017520"/>
            <a:ext cx="3759098" cy="237744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109728" bIns="109728" wrap="square"/>
          <a:lstStyle/>
          <a:p>
            <a:pPr algn="l"/>
            <a:r>
              <a:rPr sz="1400" b="1">
                <a:solidFill>
                  <a:srgbClr val="1B2A3A"/>
                </a:solidFill>
                <a:latin typeface="Segoe UI"/>
              </a:rPr>
              <a:t>Prompt lifecycle</a:t>
            </a:r>
          </a:p>
          <a:p>
            <a:pPr algn="l"/>
            <a:r>
              <a:rPr sz="1000" i="1">
                <a:solidFill>
                  <a:srgbClr val="1B2A3A"/>
                </a:solidFill>
                <a:latin typeface="Segoe UI"/>
              </a:rPr>
              <a:t>Draft → Test → Approved → Prod → Deprecated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Versioned prompt templates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Prompt tests + regression suite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Prompt registry as source of truth</a:t>
            </a:r>
          </a:p>
          <a:p>
            <a:pPr algn="l"/>
            <a:r>
              <a:rPr sz="1100">
                <a:solidFill>
                  <a:srgbClr val="1B2A3A"/>
                </a:solidFill>
                <a:latin typeface="Segoe UI"/>
              </a:rPr>
              <a:t>•  Prompt rollback independent of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6298" y="3017520"/>
            <a:ext cx="3759098" cy="237744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109728" bIns="109728" wrap="square"/>
          <a:lstStyle/>
          <a:p>
            <a:pPr algn="l"/>
            <a:r>
              <a:rPr sz="1400" b="1">
                <a:solidFill>
                  <a:srgbClr val="4A1E5C"/>
                </a:solidFill>
                <a:latin typeface="Segoe UI"/>
              </a:rPr>
              <a:t>Model lifecycle</a:t>
            </a:r>
          </a:p>
          <a:p>
            <a:pPr algn="l"/>
            <a:r>
              <a:rPr sz="1000" i="1">
                <a:solidFill>
                  <a:srgbClr val="4A1E5C"/>
                </a:solidFill>
                <a:latin typeface="Segoe UI"/>
              </a:rPr>
              <a:t>Candidate → Shadow → Canary → Prod → Retired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•  Model registry (foundation + fine-tuned)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•  Approved providers only (TB-C)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•  Cost + latency + safety benchmarks</a:t>
            </a:r>
          </a:p>
          <a:p>
            <a:pPr algn="l"/>
            <a:r>
              <a:rPr sz="1100">
                <a:solidFill>
                  <a:srgbClr val="4A1E5C"/>
                </a:solidFill>
                <a:latin typeface="Segoe UI"/>
              </a:rPr>
              <a:t>•  Shadow traffic for regression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3017520"/>
            <a:ext cx="3759098" cy="237744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109728" bIns="109728" wrap="square"/>
          <a:lstStyle/>
          <a:p>
            <a:pPr algn="l"/>
            <a:r>
              <a:rPr sz="1400" b="1">
                <a:solidFill>
                  <a:srgbClr val="0B5C4B"/>
                </a:solidFill>
                <a:latin typeface="Segoe UI"/>
              </a:rPr>
              <a:t>Tool lifecycle</a:t>
            </a:r>
          </a:p>
          <a:p>
            <a:pPr algn="l"/>
            <a:r>
              <a:rPr sz="1000" i="1">
                <a:solidFill>
                  <a:srgbClr val="0B5C4B"/>
                </a:solidFill>
                <a:latin typeface="Segoe UI"/>
              </a:rPr>
              <a:t>Onboarded → Restricted → GA → Deprecated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Tool registry with impact class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Argument guardrails per tool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HITL approval for high-impact</a:t>
            </a:r>
          </a:p>
          <a:p>
            <a:pPr algn="l"/>
            <a:r>
              <a:rPr sz="1100">
                <a:solidFill>
                  <a:srgbClr val="0B5C4B"/>
                </a:solidFill>
                <a:latin typeface="Segoe UI"/>
              </a:rPr>
              <a:t>•  Audit + rate limit per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Cloud implementations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5A6470"/>
                </a:solidFill>
                <a:latin typeface="Segoe UI"/>
              </a:rPr>
              <a:t>Same 16 layers. Four independent mappings. Vendor-neutral by construction.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791891" cy="5120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128016" bIns="109728" wrap="square"/>
          <a:lstStyle/>
          <a:p>
            <a:pPr algn="l"/>
            <a:r>
              <a:rPr sz="1500" b="1">
                <a:solidFill>
                  <a:srgbClr val="0B3D91"/>
                </a:solidFill>
                <a:latin typeface="Segoe UI"/>
              </a:rPr>
              <a:t>Microsoft Azure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L1 Gateway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APIM · Front Door · Entra ID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L2 Orch.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Container Apps · Durable Fn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L5 Retrieval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AI Search · Cosmos Gremlin · Fabric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L6 Models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Azure OpenAI · AI Foundry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L7 Tools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APIM · Logic Apps · MCP on ACA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L10 Obs.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App Insights · Azure Monitor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L13 Sec.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Entra · Key Vault · Purview · Defender</a:t>
            </a:r>
          </a:p>
          <a:p>
            <a:pPr algn="l"/>
            <a:r>
              <a:rPr sz="1050" b="1">
                <a:solidFill>
                  <a:srgbClr val="0B3D91"/>
                </a:solidFill>
                <a:latin typeface="Segoe UI"/>
              </a:rPr>
              <a:t>L14 GRC</a:t>
            </a:r>
          </a:p>
          <a:p>
            <a:pPr algn="l"/>
            <a:r>
              <a:rPr sz="950">
                <a:solidFill>
                  <a:srgbClr val="0B3D91"/>
                </a:solidFill>
                <a:latin typeface="Segoe UI"/>
              </a:rPr>
              <a:t>Purview · Azure Policy · Foundry gov.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9947" y="1280160"/>
            <a:ext cx="2791891" cy="512064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128016" bIns="109728" wrap="square"/>
          <a:lstStyle/>
          <a:p>
            <a:pPr algn="l"/>
            <a:r>
              <a:rPr sz="1500" b="1">
                <a:solidFill>
                  <a:srgbClr val="0B5C4B"/>
                </a:solidFill>
                <a:latin typeface="Segoe UI"/>
              </a:rPr>
              <a:t>Amazon AWS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L1 Gateway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CloudFront · WAF · API Gateway · Cognito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L2 Orch.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ECS / Fargate · Step Functions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L5 Retrieval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OpenSearch · Neptune · Athena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L6 Models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Bedrock · SageMaker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L7 Tools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API Gateway · Lambda · MCP on ECS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L10 Obs.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CloudWatch · X-Ray · OTel Collector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L13 Sec.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IAM · KMS · Secrets Manager · Macie</a:t>
            </a:r>
          </a:p>
          <a:p>
            <a:pPr algn="l"/>
            <a:r>
              <a:rPr sz="1050" b="1">
                <a:solidFill>
                  <a:srgbClr val="0B5C4B"/>
                </a:solidFill>
                <a:latin typeface="Segoe UI"/>
              </a:rPr>
              <a:t>L14 GRC</a:t>
            </a:r>
          </a:p>
          <a:p>
            <a:pPr algn="l"/>
            <a:r>
              <a:rPr sz="950">
                <a:solidFill>
                  <a:srgbClr val="0B5C4B"/>
                </a:solidFill>
                <a:latin typeface="Segoe UI"/>
              </a:rPr>
              <a:t>Config · Audit Manager · Bedrock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9855" y="1280160"/>
            <a:ext cx="2791891" cy="5120640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128016" bIns="109728" wrap="square"/>
          <a:lstStyle/>
          <a:p>
            <a:pPr algn="l"/>
            <a:r>
              <a:rPr sz="1500" b="1">
                <a:solidFill>
                  <a:srgbClr val="4A1E5C"/>
                </a:solidFill>
                <a:latin typeface="Segoe UI"/>
              </a:rPr>
              <a:t>Google Cloud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L1 Gateway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Cloud LB · Cloud Armor · API Gateway · IAP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L2 Orch.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Cloud Run · Workflows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L5 Retrieval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Vertex AI Search · Spanner Graph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L6 Models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Vertex AI · Gemini · Model Garden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L7 Tools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API Gateway · Cloud Functions · MCP on Run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L10 Obs.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Cloud Ops Suite · OTel Collector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L13 Sec.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IAM · KMS · Secret Manager · SCC</a:t>
            </a:r>
          </a:p>
          <a:p>
            <a:pPr algn="l"/>
            <a:r>
              <a:rPr sz="1050" b="1">
                <a:solidFill>
                  <a:srgbClr val="4A1E5C"/>
                </a:solidFill>
                <a:latin typeface="Segoe UI"/>
              </a:rPr>
              <a:t>L14 GRC</a:t>
            </a:r>
          </a:p>
          <a:p>
            <a:pPr algn="l"/>
            <a:r>
              <a:rPr sz="950">
                <a:solidFill>
                  <a:srgbClr val="4A1E5C"/>
                </a:solidFill>
                <a:latin typeface="Segoe UI"/>
              </a:rPr>
              <a:t>Assured Workloads · Vertex Model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763" y="1280160"/>
            <a:ext cx="2791891" cy="512064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128016" bIns="109728" wrap="square"/>
          <a:lstStyle/>
          <a:p>
            <a:pPr algn="l"/>
            <a:r>
              <a:rPr sz="1500" b="1">
                <a:solidFill>
                  <a:srgbClr val="1B2A3A"/>
                </a:solidFill>
                <a:latin typeface="Segoe UI"/>
              </a:rPr>
              <a:t>Open Source / K8s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L1 Gateway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Envoy · Kong · Keycloak · OIDC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L2 Orch.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K8s + Argo Workflows · LangGraph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L5 Retrieval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Qdrant · Weaviate · pgvector · Neo4j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L6 Models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vLLM · Ollama · TGI · TorchServe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L7 Tools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MCP servers · custom adapters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L10 Obs.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OTel · Prometheus · Grafana · Tempo · Loki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L13 Sec.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SPIFFE · Vault · Falco · Kyverno</a:t>
            </a:r>
          </a:p>
          <a:p>
            <a:pPr algn="l"/>
            <a:r>
              <a:rPr sz="1050" b="1">
                <a:solidFill>
                  <a:srgbClr val="1B2A3A"/>
                </a:solidFill>
                <a:latin typeface="Segoe UI"/>
              </a:rPr>
              <a:t>L14 GRC</a:t>
            </a:r>
          </a:p>
          <a:p>
            <a:pPr algn="l"/>
            <a:r>
              <a:rPr sz="950">
                <a:solidFill>
                  <a:srgbClr val="1B2A3A"/>
                </a:solidFill>
                <a:latin typeface="Segoe UI"/>
              </a:rPr>
              <a:t>OPA / Gatekeeper · Kyverno · Sigstore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Standards &amp;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5A6470"/>
                </a:solidFill>
                <a:latin typeface="Segoe UI"/>
              </a:rPr>
              <a:t>EASRA maps explicitly to the frameworks your compliance, security and risk teams already recognise.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5684367" cy="117729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1B2A3A"/>
                </a:solidFill>
                <a:latin typeface="Segoe UI"/>
              </a:rPr>
              <a:t>NIST AI RMF</a:t>
            </a:r>
          </a:p>
          <a:p>
            <a:pPr algn="l"/>
            <a:r>
              <a:rPr sz="1050" i="1">
                <a:solidFill>
                  <a:srgbClr val="1B2A3A"/>
                </a:solidFill>
                <a:latin typeface="Segoe UI"/>
              </a:rPr>
              <a:t>Govern · Map · Measure · Manage</a:t>
            </a:r>
          </a:p>
          <a:p>
            <a:pPr algn="l"/>
            <a:r>
              <a:rPr sz="1000">
                <a:solidFill>
                  <a:srgbClr val="1B2A3A"/>
                </a:solidFill>
                <a:latin typeface="Segoe UI"/>
              </a:rPr>
              <a:t>Mapped in EASRA at:  L14 Governance · L10 Observability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94610"/>
            <a:ext cx="5684367" cy="117729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1B2A3A"/>
                </a:solidFill>
                <a:latin typeface="Segoe UI"/>
              </a:rPr>
              <a:t>ISO / IEC 42001</a:t>
            </a:r>
          </a:p>
          <a:p>
            <a:pPr algn="l"/>
            <a:r>
              <a:rPr sz="1050" i="1">
                <a:solidFill>
                  <a:srgbClr val="1B2A3A"/>
                </a:solidFill>
                <a:latin typeface="Segoe UI"/>
              </a:rPr>
              <a:t>AI management system</a:t>
            </a:r>
          </a:p>
          <a:p>
            <a:pPr algn="l"/>
            <a:r>
              <a:rPr sz="1000">
                <a:solidFill>
                  <a:srgbClr val="1B2A3A"/>
                </a:solidFill>
                <a:latin typeface="Segoe UI"/>
              </a:rPr>
              <a:t>Mapped in EASRA at:  L14 · L12 AI Platform · L15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909060"/>
            <a:ext cx="5684367" cy="117729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EU AI Act</a:t>
            </a:r>
          </a:p>
          <a:p>
            <a:pPr algn="l"/>
            <a:r>
              <a:rPr sz="1050" i="1">
                <a:solidFill>
                  <a:srgbClr val="6B1A11"/>
                </a:solidFill>
                <a:latin typeface="Segoe UI"/>
              </a:rPr>
              <a:t>Risk categorisation + provider duties</a:t>
            </a:r>
          </a:p>
          <a:p>
            <a:pPr algn="l"/>
            <a:r>
              <a:rPr sz="1000">
                <a:solidFill>
                  <a:srgbClr val="6B1A11"/>
                </a:solidFill>
                <a:latin typeface="Segoe UI"/>
              </a:rPr>
              <a:t>Mapped in EASRA at:  L14 · L9 Verification · L13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223510"/>
            <a:ext cx="5684367" cy="117729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OWASP LLM Top 10</a:t>
            </a:r>
          </a:p>
          <a:p>
            <a:pPr algn="l"/>
            <a:r>
              <a:rPr sz="1050" i="1">
                <a:solidFill>
                  <a:srgbClr val="6B1A11"/>
                </a:solidFill>
                <a:latin typeface="Segoe UI"/>
              </a:rPr>
              <a:t>LLM-specific application risks</a:t>
            </a:r>
          </a:p>
          <a:p>
            <a:pPr algn="l"/>
            <a:r>
              <a:rPr sz="1000">
                <a:solidFill>
                  <a:srgbClr val="6B1A11"/>
                </a:solidFill>
                <a:latin typeface="Segoe UI"/>
              </a:rPr>
              <a:t>Mapped in EASRA at:  L1 · L6 · L7 · L8 · L9 · L11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280160"/>
            <a:ext cx="5684367" cy="117729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6B1A11"/>
                </a:solidFill>
                <a:latin typeface="Segoe UI"/>
              </a:rPr>
              <a:t>MITRE ATLAS</a:t>
            </a:r>
          </a:p>
          <a:p>
            <a:pPr algn="l"/>
            <a:r>
              <a:rPr sz="1050" i="1">
                <a:solidFill>
                  <a:srgbClr val="6B1A11"/>
                </a:solidFill>
                <a:latin typeface="Segoe UI"/>
              </a:rPr>
              <a:t>Adversary tactics + techniques for AI</a:t>
            </a:r>
          </a:p>
          <a:p>
            <a:pPr algn="l"/>
            <a:r>
              <a:rPr sz="1000">
                <a:solidFill>
                  <a:srgbClr val="6B1A11"/>
                </a:solidFill>
                <a:latin typeface="Segoe UI"/>
              </a:rPr>
              <a:t>Mapped in EASRA at:  L1 · L8 Guardrails · L13 · L14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594610"/>
            <a:ext cx="5684367" cy="117729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5A4200"/>
                </a:solidFill>
                <a:latin typeface="Segoe UI"/>
              </a:rPr>
              <a:t>OpenTelemetry</a:t>
            </a:r>
          </a:p>
          <a:p>
            <a:pPr algn="l"/>
            <a:r>
              <a:rPr sz="1050" i="1">
                <a:solidFill>
                  <a:srgbClr val="5A4200"/>
                </a:solidFill>
                <a:latin typeface="Segoe UI"/>
              </a:rPr>
              <a:t>Traces / metrics / logs schema</a:t>
            </a:r>
          </a:p>
          <a:p>
            <a:pPr algn="l"/>
            <a:r>
              <a:rPr sz="1000">
                <a:solidFill>
                  <a:srgbClr val="5A4200"/>
                </a:solidFill>
                <a:latin typeface="Segoe UI"/>
              </a:rPr>
              <a:t>Mapped in EASRA at:  L10 Observability across every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3909060"/>
            <a:ext cx="5684367" cy="117729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0B5C4B"/>
                </a:solidFill>
                <a:latin typeface="Segoe UI"/>
              </a:rPr>
              <a:t>Model Context Protocol (MCP)</a:t>
            </a:r>
          </a:p>
          <a:p>
            <a:pPr algn="l"/>
            <a:r>
              <a:rPr sz="1050" i="1">
                <a:solidFill>
                  <a:srgbClr val="0B5C4B"/>
                </a:solidFill>
                <a:latin typeface="Segoe UI"/>
              </a:rPr>
              <a:t>Standardised tool interface</a:t>
            </a:r>
          </a:p>
          <a:p>
            <a:pPr algn="l"/>
            <a:r>
              <a:rPr sz="1000">
                <a:solidFill>
                  <a:srgbClr val="0B5C4B"/>
                </a:solidFill>
                <a:latin typeface="Segoe UI"/>
              </a:rPr>
              <a:t>Mapped in EASRA at:  L7 Tooling &amp;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5223510"/>
            <a:ext cx="5684367" cy="117729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91440" bIns="91440" wrap="square"/>
          <a:lstStyle/>
          <a:p>
            <a:pPr algn="l"/>
            <a:r>
              <a:rPr sz="1400" b="1">
                <a:solidFill>
                  <a:srgbClr val="1B2A3A"/>
                </a:solidFill>
                <a:latin typeface="Segoe UI"/>
              </a:rPr>
              <a:t>TOGAF</a:t>
            </a:r>
          </a:p>
          <a:p>
            <a:pPr algn="l"/>
            <a:r>
              <a:rPr sz="1050" i="1">
                <a:solidFill>
                  <a:srgbClr val="1B2A3A"/>
                </a:solidFill>
                <a:latin typeface="Segoe UI"/>
              </a:rPr>
              <a:t>Enterprise architecture context</a:t>
            </a:r>
          </a:p>
          <a:p>
            <a:pPr algn="l"/>
            <a:r>
              <a:rPr sz="1000">
                <a:solidFill>
                  <a:srgbClr val="1B2A3A"/>
                </a:solidFill>
                <a:latin typeface="Segoe UI"/>
              </a:rPr>
              <a:t>Mapped in EASRA at:  Positions EASRA as an AI-domain reference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CC-BY-4.0 (docs) + Apache-2.0 (code)  ·  Karthikeyan Dhanakotti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EASRA  ·  Enterprise AI Systems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Architecture Decision Records (ADRs)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516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Segoe UI"/>
              </a:rPr>
              <a:t>Every consequential architectural choice in EASRA is recorded as an ADR. Not a deliverable — a first-class artefact of the framework.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960120" cy="908913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17320"/>
            <a:ext cx="4632807" cy="908913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6B1A11"/>
                </a:solidFill>
                <a:latin typeface="Segoe UI"/>
              </a:rPr>
              <a:t>Verification is separate from Evaluation</a:t>
            </a:r>
          </a:p>
          <a:p>
            <a:pPr algn="l"/>
            <a:r>
              <a:rPr sz="1050">
                <a:solidFill>
                  <a:srgbClr val="6B1A11"/>
                </a:solidFill>
                <a:latin typeface="Segoe UI"/>
              </a:rPr>
              <a:t>Runtime verifiers vs. offline eval — different lifecycles, different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435961"/>
            <a:ext cx="960120" cy="908913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435961"/>
            <a:ext cx="4632807" cy="908913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0B5C4B"/>
                </a:solidFill>
                <a:latin typeface="Segoe UI"/>
              </a:rPr>
              <a:t>Memory is externalised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Compute stays stateless. Sessions, profiles, episodic memory live outside.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454603"/>
            <a:ext cx="960120" cy="908913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54603"/>
            <a:ext cx="4632807" cy="908913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0B5C4B"/>
                </a:solidFill>
                <a:latin typeface="Segoe UI"/>
              </a:rPr>
              <a:t>Prompt Registry is mandatory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Prompts are versioned code, not literals — enables A/B, rollback,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473244"/>
            <a:ext cx="960120" cy="908913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73244"/>
            <a:ext cx="4632807" cy="908913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4A1E5C"/>
                </a:solidFill>
                <a:latin typeface="Segoe UI"/>
              </a:rPr>
              <a:t>AI Gateway is separate from API Gateway</a:t>
            </a:r>
          </a:p>
          <a:p>
            <a:pPr algn="l"/>
            <a:r>
              <a:rPr sz="1050">
                <a:solidFill>
                  <a:srgbClr val="4A1E5C"/>
                </a:solidFill>
                <a:latin typeface="Segoe UI"/>
              </a:rPr>
              <a:t>Model routing, token budgets, retries, circuit breakers ≠ HTTP concerns.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5491886"/>
            <a:ext cx="960120" cy="908913"/>
          </a:xfrm>
          <a:prstGeom prst="round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491886"/>
            <a:ext cx="4632807" cy="908913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0B5C4B"/>
                </a:solidFill>
                <a:latin typeface="Segoe UI"/>
              </a:rPr>
              <a:t>Tool Registry with impact class is mandatory</a:t>
            </a:r>
          </a:p>
          <a:p>
            <a:pPr algn="l"/>
            <a:r>
              <a:rPr sz="1050">
                <a:solidFill>
                  <a:srgbClr val="0B5C4B"/>
                </a:solidFill>
                <a:latin typeface="Segoe UI"/>
              </a:rPr>
              <a:t>Every tool has an impact class; HITL for high-impact; audit for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417320"/>
            <a:ext cx="960120" cy="908913"/>
          </a:xfrm>
          <a:prstGeom prst="roundRect">
            <a:avLst/>
          </a:prstGeom>
          <a:solidFill>
            <a:srgbClr val="B58900"/>
          </a:solidFill>
          <a:ln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8847" y="1417320"/>
            <a:ext cx="4632807" cy="908913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5A4200"/>
                </a:solidFill>
                <a:latin typeface="Segoe UI"/>
              </a:rPr>
              <a:t>Cache Manager is centralised</a:t>
            </a:r>
          </a:p>
          <a:p>
            <a:pPr algn="l"/>
            <a:r>
              <a:rPr sz="1050">
                <a:solidFill>
                  <a:srgbClr val="5A4200"/>
                </a:solidFill>
                <a:latin typeface="Segoe UI"/>
              </a:rPr>
              <a:t>One component for prompt · semantic · embedding · memory · response caches.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435961"/>
            <a:ext cx="960120" cy="908913"/>
          </a:xfrm>
          <a:prstGeom prst="roundRect">
            <a:avLst/>
          </a:prstGeom>
          <a:solidFill>
            <a:srgbClr val="B58900"/>
          </a:solidFill>
          <a:ln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8847" y="2435961"/>
            <a:ext cx="4632807" cy="908913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5A4200"/>
                </a:solidFill>
                <a:latin typeface="Segoe UI"/>
              </a:rPr>
              <a:t>Async work uses an Event Bus, not sync calls</a:t>
            </a:r>
          </a:p>
          <a:p>
            <a:pPr algn="l"/>
            <a:r>
              <a:rPr sz="1050">
                <a:solidFill>
                  <a:srgbClr val="5A4200"/>
                </a:solidFill>
                <a:latin typeface="Segoe UI"/>
              </a:rPr>
              <a:t>Batch, embedding, re-index, long-running agents — Kafka / Event Hub.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3454603"/>
            <a:ext cx="960120" cy="908913"/>
          </a:xfrm>
          <a:prstGeom prst="round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8847" y="3454603"/>
            <a:ext cx="4632807" cy="908913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1B2A3A"/>
                </a:solidFill>
                <a:latin typeface="Segoe UI"/>
              </a:rPr>
              <a:t>Control / Data / Management planes are separated</a:t>
            </a:r>
          </a:p>
          <a:p>
            <a:pPr algn="l"/>
            <a:r>
              <a:rPr sz="1050">
                <a:solidFill>
                  <a:srgbClr val="1B2A3A"/>
                </a:solidFill>
                <a:latin typeface="Segoe UI"/>
              </a:rPr>
              <a:t>Governance, runtime and operations scale independently.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4473244"/>
            <a:ext cx="960120" cy="908913"/>
          </a:xfrm>
          <a:prstGeom prst="round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8847" y="4473244"/>
            <a:ext cx="4632807" cy="908913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1B2A3A"/>
                </a:solidFill>
                <a:latin typeface="Segoe UI"/>
              </a:rPr>
              <a:t>Standards are mapped, not replaced</a:t>
            </a:r>
          </a:p>
          <a:p>
            <a:pPr algn="l"/>
            <a:r>
              <a:rPr sz="1050">
                <a:solidFill>
                  <a:srgbClr val="1B2A3A"/>
                </a:solidFill>
                <a:latin typeface="Segoe UI"/>
              </a:rPr>
              <a:t>NIST · ISO 42001 · EU AI Act · OWASP LLM · MITRE ATLAS — complements, doesn’t compete.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5491886"/>
            <a:ext cx="960120" cy="908913"/>
          </a:xfrm>
          <a:prstGeom prst="roundRect">
            <a:avLst/>
          </a:prstGeom>
          <a:solidFill>
            <a:srgbClr val="3B7DDD"/>
          </a:solidFill>
          <a:ln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ADR-010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8847" y="5491886"/>
            <a:ext cx="4632807" cy="908913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1">
                <a:solidFill>
                  <a:srgbClr val="0B3D91"/>
                </a:solidFill>
                <a:latin typeface="Segoe UI"/>
              </a:rPr>
              <a:t>Dual license: CC-BY-4.0 docs · Apache-2.0 code</a:t>
            </a:r>
          </a:p>
          <a:p>
            <a:pPr algn="l"/>
            <a:r>
              <a:rPr sz="1050">
                <a:solidFill>
                  <a:srgbClr val="0B3D91"/>
                </a:solidFill>
                <a:latin typeface="Segoe UI"/>
              </a:rPr>
              <a:t>Docs freely adaptable; code freely usable in commercial products.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65392"/>
            <a:ext cx="115516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ADRs live under docs/adr/. Each one has context · decision · consequences · status · date.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137160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B7DDD"/>
                </a:solidFill>
                <a:latin typeface="Segoe UI"/>
              </a:rPr>
              <a:t>ADOPT · CONTRIBUTE ·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EASRA is an open architecture standard.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B8CDEA"/>
                </a:solidFill>
                <a:latin typeface="Segoe UI"/>
              </a:rPr>
              <a:t>Vendor-neutral. Standards-aligned. Verifiable. Yours to fork.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514600" cy="128016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★ Star</a:t>
            </a:r>
          </a:p>
          <a:p>
            <a:pPr algn="l"/>
            <a:r>
              <a:rPr sz="1000">
                <a:solidFill>
                  <a:srgbClr val="8FA9CE"/>
                </a:solidFill>
                <a:latin typeface="Segoe UI"/>
              </a:rPr>
              <a:t>github.com/KarthikeyanDhanakotti/EASRA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3657600"/>
            <a:ext cx="2514600" cy="128016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Fork &amp; Adopt</a:t>
            </a:r>
          </a:p>
          <a:p>
            <a:pPr algn="l"/>
            <a:r>
              <a:rPr sz="1000">
                <a:solidFill>
                  <a:srgbClr val="8FA9CE"/>
                </a:solidFill>
                <a:latin typeface="Segoe UI"/>
              </a:rPr>
              <a:t>templates/repository-template/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2514600" cy="128016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Contribute</a:t>
            </a:r>
          </a:p>
          <a:p>
            <a:pPr algn="l"/>
            <a:r>
              <a:rPr sz="1000">
                <a:solidFill>
                  <a:srgbClr val="8FA9CE"/>
                </a:solidFill>
                <a:latin typeface="Segoe UI"/>
              </a:rPr>
              <a:t>CONTRIBUTING.md  ·  GOVERNANCE.md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657600"/>
            <a:ext cx="2514600" cy="1280160"/>
          </a:xfrm>
          <a:prstGeom prst="roundRect">
            <a:avLst/>
          </a:prstGeom>
          <a:solidFill>
            <a:srgbClr val="12335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Follow</a:t>
            </a:r>
          </a:p>
          <a:p>
            <a:pPr algn="l"/>
            <a:r>
              <a:rPr sz="1000">
                <a:solidFill>
                  <a:srgbClr val="8FA9CE"/>
                </a:solidFill>
                <a:latin typeface="Segoe UI"/>
              </a:rPr>
              <a:t>linkedin.com/in/karthikeyan-dhanakotti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FA9CE"/>
                </a:solidFill>
                <a:latin typeface="Segoe UI"/>
              </a:rPr>
              <a:t>Karthikeyan Dhanakotti  ·  Enterprise AI Architect  ·  Independent open-source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