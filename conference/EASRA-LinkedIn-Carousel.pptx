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B7DDD"/>
                </a:solidFill>
                <a:latin typeface="Segoe UI"/>
              </a:rPr>
              <a:t>OPEN ARCHITECTURE STANDARD  ·  v0.1.0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Segoe UI"/>
              </a:rPr>
              <a:t>EASRA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"/>
              </a:rPr>
              <a:t>Enterprise AI Systems 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B8CDEA"/>
                </a:solidFill>
                <a:latin typeface="Segoe UI"/>
              </a:rPr>
              <a:t>The open standard for production-grade Enterprise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No lock-in. Every layer maps to ≥ 2 clouds.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PRODUCTION-READY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Runtime, deployment &amp; scaling — not a slideware framework.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Grounding, citation, factuality baked in — verification ≠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CLOUD-AGNOSTIC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github.com/KarthikeyanDhanakotti/EASRA  ·  CC-BY-4.0 (docs) + Apache-2.0 (code)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Why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0B1F3A"/>
                </a:solidFill>
                <a:latin typeface="Segoe UI"/>
              </a:rPr>
              <a:t>Enterprise AI stacks are one-offs.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5A6470"/>
                </a:solidFill>
                <a:latin typeface="Segoe UI"/>
              </a:rPr>
              <a:t>Every team is redesigning the same architecture — badly, in isolation, with different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No shared vocabulary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Teams argue about ‘agent’ vs ‘workflow’ vs ‘orchestrator’ before writing a line of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bolted 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Prompt injection, tool safety and PII treated as add-ons, not architectural concerns.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Verification confused with evaluation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Offline metrics ship to prod. No first-class verification of grounding, citation, factuality.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Cost &amp; observability afterthoughts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Token spend, latency SLOs and tool traces retrofitted after the outage.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What is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0B1F3A"/>
                </a:solidFill>
                <a:latin typeface="Segoe UI"/>
              </a:rPr>
              <a:t>An open architecture standard for Enterprise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1">
                <a:solidFill>
                  <a:srgbClr val="3B7DDD"/>
                </a:solidFill>
                <a:latin typeface="Segoe UI"/>
              </a:rPr>
              <a:t>Vendor-neutral. Production-grade. Standards-aligned.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55767" cy="14173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3D91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Every layer maps cleanly to Azure, AWS, GCP and open-source. No lock-in.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606040"/>
            <a:ext cx="5455767" cy="14173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Zero trust, four trust boundaries, prompt-injection resistance in the layers, not on 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5455767" cy="141732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Grounding, citation, factuality, policy and safety verification separated from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206240"/>
            <a:ext cx="5455767" cy="14173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Cost + observability by default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Tokens, latency, cost, prompts, tools traced through OpenTelemetry from every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The EASRA capability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470"/>
                </a:solidFill>
                <a:latin typeface="Segoe UI"/>
              </a:rPr>
              <a:t>EASRA is not just a diagram. It is a full stack — like TOGAF, like OpenTelemetry.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783080"/>
            <a:ext cx="1556178" cy="40233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3D91"/>
                </a:solidFill>
                <a:latin typeface="Segoe UI"/>
              </a:rPr>
              <a:t>Capability Model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What capabilities every Enterprise AI system must have.</a:t>
            </a:r>
          </a:p>
        </p:txBody>
      </p:sp>
      <p:sp>
        <p:nvSpPr>
          <p:cNvPr id="8" name="Oval 7"/>
          <p:cNvSpPr/>
          <p:nvPr/>
        </p:nvSpPr>
        <p:spPr>
          <a:xfrm>
            <a:off x="800949" y="1353312"/>
            <a:ext cx="594360" cy="594360"/>
          </a:xfrm>
          <a:prstGeom prst="ellipse">
            <a:avLst/>
          </a:prstGeom>
          <a:solidFill>
            <a:srgbClr val="3B7DD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5793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985946" y="1783080"/>
            <a:ext cx="1556178" cy="40233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Reference Arch.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16 layers, 4 trust boundaries, 3 planes — the shared shape.</a:t>
            </a:r>
          </a:p>
        </p:txBody>
      </p:sp>
      <p:sp>
        <p:nvSpPr>
          <p:cNvPr id="11" name="Oval 10"/>
          <p:cNvSpPr/>
          <p:nvPr/>
        </p:nvSpPr>
        <p:spPr>
          <a:xfrm>
            <a:off x="2466855" y="1353312"/>
            <a:ext cx="594360" cy="594360"/>
          </a:xfrm>
          <a:prstGeom prst="ellipse">
            <a:avLst/>
          </a:prstGeom>
          <a:solidFill>
            <a:srgbClr val="2C3E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3836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1852" y="1783080"/>
            <a:ext cx="1556178" cy="40233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Reference Impls.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4" name="Oval 13"/>
          <p:cNvSpPr/>
          <p:nvPr/>
        </p:nvSpPr>
        <p:spPr>
          <a:xfrm>
            <a:off x="4132761" y="1353312"/>
            <a:ext cx="594360" cy="594360"/>
          </a:xfrm>
          <a:prstGeom prst="ellipse">
            <a:avLst/>
          </a:prstGeom>
          <a:solidFill>
            <a:srgbClr val="8E44A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89742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317758" y="1783080"/>
            <a:ext cx="1556178" cy="40233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Patterns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Named, reusable solutions: RAG, agent, tool-use, HITL, cache-first.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798667" y="1353312"/>
            <a:ext cx="594360" cy="594360"/>
          </a:xfrm>
          <a:prstGeom prst="ellipse">
            <a:avLst/>
          </a:prstGeom>
          <a:solidFill>
            <a:srgbClr val="16A08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55648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983664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Verification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 · citation · factuality · policy — separated from evaluation.</a:t>
            </a:r>
          </a:p>
        </p:txBody>
      </p:sp>
      <p:sp>
        <p:nvSpPr>
          <p:cNvPr id="20" name="Oval 19"/>
          <p:cNvSpPr/>
          <p:nvPr/>
        </p:nvSpPr>
        <p:spPr>
          <a:xfrm>
            <a:off x="7464573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21554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649570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Latency · cost · safety · reliability — comparable across impls.</a:t>
            </a:r>
          </a:p>
        </p:txBody>
      </p:sp>
      <p:sp>
        <p:nvSpPr>
          <p:cNvPr id="23" name="Oval 22"/>
          <p:cNvSpPr/>
          <p:nvPr/>
        </p:nvSpPr>
        <p:spPr>
          <a:xfrm>
            <a:off x="9130479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8746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0315476" y="1783080"/>
            <a:ext cx="1556178" cy="40233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Certification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Conformance profiles: what it means to be ‘EASRA-compliant’.</a:t>
            </a:r>
          </a:p>
        </p:txBody>
      </p:sp>
      <p:sp>
        <p:nvSpPr>
          <p:cNvPr id="26" name="Oval 25"/>
          <p:cNvSpPr/>
          <p:nvPr/>
        </p:nvSpPr>
        <p:spPr>
          <a:xfrm>
            <a:off x="10796385" y="1353312"/>
            <a:ext cx="594360" cy="59436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8076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0B3D91"/>
                </a:solidFill>
                <a:latin typeface="Segoe UI"/>
              </a:rPr>
              <a:t>Ladders 1–3 are v0.1.0 today. Ladders 4–7 are the roadmap.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Ten design principles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Vendor Neutrality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Logical layers; each maps to ≥ 2 independent implementations.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Zero-trust, least-privilege, prompt-injection resistance are architectural.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Verification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AI output is verifiable; verification ≠ evaluation.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Observability by Default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Traces, metrics, logs, token/cost accounting emitted from every component.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Loose Coupling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Layers communicate only through published interfaces.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6511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Externalized State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Memory, sessions, caches live outside compute; compute is stateless.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6511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Human-in-the-Loop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autonomous action has escalation, override and audit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6511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Failure Isolation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 failure degrades gracefully; no single layer cascades a full outage.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36511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Cost Awareness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Token, compute, storage cost are explicit design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7287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36511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Evolvability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New models, tools, agents, channels added without redesigning the architecture.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The Sixteen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3272" y="822960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Web, mobile, API, chat, voice, SDK — every way a user or system talks to the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29334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529334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CDN, WAF, global load balancer, API gateway, OIDC/OAuth2, rate limiting, session, request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35708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2235708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Router, single agent, multi-agent coordinator, planner/workflow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942082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942082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Context builder, prompt builder, versioned prompt registry.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Memory &amp; Context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Short-term, long-term, session, semantic memory and user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354830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4354830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Knowledge &amp;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Retrieval router across vector, BM25, SQL, graph; reranker; hybrid retrieval.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61204"/>
            <a:ext cx="658368" cy="633222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5061204"/>
            <a:ext cx="4971135" cy="633222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Capability/cost/latency/policy-aware routing over foundation + small/specialised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767578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5767578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Tooling &amp; Actions (MCP)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Tool router, MCP clients/servers, enterprise APIs, impact-class enforcer, tool registry.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82296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0519" y="82296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Input, prompt, tool-argument and output guardrails.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529334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0519" y="1529334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Verification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First-class verification layer: grounding, citation, factuality, format, policy, safety.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235708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519" y="2235708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OpenTelemetry-based traces, metrics, logs; tokens, latency, cost; agent/prompt/tool trace; evaluation, alerts.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2082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0519" y="2942082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Performance · Caching · Cost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Prompt, semantic, embedding, memory, response caches; cost ledger.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LLMOps &amp; Delivery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Git → CI (lint, sec-scan, prompt-tests, eval) → artefact registry → CD (canary, blue/green, shadow, rollback).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35483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0519" y="435483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Security &amp; Zero Trust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AuthN/AuthZ, secrets, encryption, PII detection, policy engine, audit, 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5061204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0519" y="5061204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Policy engine, model/prompt/tool registries, NIST AI RMF, ISO 42001, EU AI Act, OWASP LLM Top 10.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5767578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0519" y="5767578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Business Outcomes &amp; Value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KPIs, value attribution, cost/benefit, adoption tracking.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Full spec: github.com/KarthikeyanDhanakotti/EASRA/tree/main/specification  ·  v0.1.0  ·  Karthikeyan Dhanakotti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Production runtime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Request flows down through the pipeline; response streams back through verification and guardrails. Async work fans out to an event bus.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75652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103668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CDN / Edge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59281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887297" y="1170432"/>
            <a:ext cx="1673900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42909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670925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API Gateway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26538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454554" y="1170432"/>
            <a:ext cx="1673900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6645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3B7DDD"/>
                </a:solidFill>
                <a:latin typeface="Segoe UI"/>
              </a:rPr>
              <a:t>OAuth · TLS · quota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0274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8E44AD"/>
                </a:solidFill>
                <a:latin typeface="Segoe UI"/>
              </a:rPr>
              <a:t>Routing · retries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1302" y="1993392"/>
            <a:ext cx="6165890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1B2A3A"/>
                </a:solidFill>
                <a:latin typeface="Segoe UI"/>
              </a:rPr>
              <a:t>L2 Router · Planner · Agent Selector · Session Context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559178" y="1691640"/>
            <a:ext cx="201168" cy="292608"/>
          </a:xfrm>
          <a:prstGeom prst="down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20040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L4 Memory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Session · long-term
profile · episodic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175595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 flipV="1">
            <a:off x="1856780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03668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Vector · BM25
SQL · Graph · rerank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408773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 flipV="1">
            <a:off x="3640409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87297" y="2816352"/>
            <a:ext cx="1673900" cy="1874519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L3 Prompt Build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Template · pack
context · budget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4641951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 flipV="1">
            <a:off x="5424037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70925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L7 Tools · MCP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Registry · impact
class · guardrails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875129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 flipV="1">
            <a:off x="7207666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54554" y="2816352"/>
            <a:ext cx="1673900" cy="1874519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L6 Model Router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Foundation · SLM
cost · latency · policy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7108307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 flipV="1">
            <a:off x="8991295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20040" y="4965191"/>
            <a:ext cx="2106091" cy="548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L1 Streaming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54147" y="4965191"/>
            <a:ext cx="2106091" cy="54864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5A4200"/>
                </a:solidFill>
                <a:latin typeface="Segoe UI"/>
              </a:rPr>
              <a:t>Response Format</a:t>
            </a:r>
          </a:p>
        </p:txBody>
      </p:sp>
      <p:sp>
        <p:nvSpPr>
          <p:cNvPr id="37" name="Left Arrow 36"/>
          <p:cNvSpPr/>
          <p:nvPr/>
        </p:nvSpPr>
        <p:spPr>
          <a:xfrm>
            <a:off x="2407843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4788255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L8 Guardrails</a:t>
            </a:r>
          </a:p>
        </p:txBody>
      </p:sp>
      <p:sp>
        <p:nvSpPr>
          <p:cNvPr id="39" name="Left Arrow 38"/>
          <p:cNvSpPr/>
          <p:nvPr/>
        </p:nvSpPr>
        <p:spPr>
          <a:xfrm>
            <a:off x="4641951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7022363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L9 Verification</a:t>
            </a:r>
          </a:p>
        </p:txBody>
      </p:sp>
      <p:sp>
        <p:nvSpPr>
          <p:cNvPr id="41" name="Left Arrow 40"/>
          <p:cNvSpPr/>
          <p:nvPr/>
        </p:nvSpPr>
        <p:spPr>
          <a:xfrm>
            <a:off x="6876059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Down Arrow 41"/>
          <p:cNvSpPr/>
          <p:nvPr/>
        </p:nvSpPr>
        <p:spPr>
          <a:xfrm>
            <a:off x="7974825" y="4709159"/>
            <a:ext cx="201168" cy="201168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0040" y="5769863"/>
            <a:ext cx="88084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0B3D91"/>
                </a:solidFill>
                <a:latin typeface="Segoe UI"/>
              </a:rPr>
              <a:t>← Streaming response back to User  ·  same pipeline in reverse  ·  citations · redaction · verdict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94215" y="1170432"/>
            <a:ext cx="2377440" cy="45720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Event Bus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Kafka · Event Hub · Pub/Sub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94215" y="1764792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Async Workers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Long-running · batch
embedding · re-index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94215" y="2660904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DLQ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Dead-letter queue
poison messages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94215" y="3557016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Retry Queue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Exponential backoff
idempotent handlers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4215" y="4453128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Outbox / Saga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Reliable side-effects
exactly-once semantics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9311335" y="1399032"/>
            <a:ext cx="0" cy="141732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311335" y="1399032"/>
            <a:ext cx="182880" cy="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20040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L10  Observability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OpenTelemetry · traces · metrics · logs · token/cost accounting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07154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L13  Security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Zero trust · IAM · secrets · encryption · threat detection · policy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94268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L15  Cost &amp; Value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Token budgets · autoscaling · GPU scheduling · load shedding · backpressure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Solid arrows = request path  ·  Dashed teal = response  ·  Dashed amber = async / eventing  ·  Bottom strip = cross-cutting planes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Runtime sequence  ·  request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One request across the actors that actually cooperate at runtime. Read top-to-bottom; each arrow is a real hop with real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" y="1280160"/>
            <a:ext cx="13067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4201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32571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596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76523" y="1280160"/>
            <a:ext cx="1306791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1B2A3A"/>
                </a:solidFill>
                <a:latin typeface="Segoe U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991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20475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Memory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3871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64427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7823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08379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6177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331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572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496283" y="1280160"/>
            <a:ext cx="13067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6B1A11"/>
                </a:solidFill>
                <a:latin typeface="Segoe UI"/>
              </a:rPr>
              <a:t>Verification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14967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2015" y="1920240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2321375" y="18196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87735" y="1700784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1  request + auth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85967" y="2184762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ight Arrow 26"/>
          <p:cNvSpPr/>
          <p:nvPr/>
        </p:nvSpPr>
        <p:spPr>
          <a:xfrm>
            <a:off x="3765327" y="2084178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31687" y="1965306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2  policy pass ·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29919" y="2449285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Arrow 29"/>
          <p:cNvSpPr/>
          <p:nvPr/>
        </p:nvSpPr>
        <p:spPr>
          <a:xfrm>
            <a:off x="5209279" y="2348701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975639" y="2229829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3  fetch session + memory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29919" y="2713808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Left Arrow 32"/>
          <p:cNvSpPr/>
          <p:nvPr/>
        </p:nvSpPr>
        <p:spPr>
          <a:xfrm>
            <a:off x="3929919" y="2613224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112799" y="2494352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history + profile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29919" y="2978331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ight Arrow 35"/>
          <p:cNvSpPr/>
          <p:nvPr/>
        </p:nvSpPr>
        <p:spPr>
          <a:xfrm>
            <a:off x="6653231" y="2877747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75639" y="2758875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4  retrieve (vector · BM25 · graph)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29919" y="3242854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Left Arrow 38"/>
          <p:cNvSpPr/>
          <p:nvPr/>
        </p:nvSpPr>
        <p:spPr>
          <a:xfrm>
            <a:off x="3929919" y="3142270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12799" y="3023398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ranked chunks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929919" y="3507377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ight Arrow 41"/>
          <p:cNvSpPr/>
          <p:nvPr/>
        </p:nvSpPr>
        <p:spPr>
          <a:xfrm>
            <a:off x="8097183" y="3406793"/>
            <a:ext cx="164592" cy="201168"/>
          </a:xfrm>
          <a:prstGeom prst="righ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975639" y="3287921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5  prompt + input guardrails · call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929919" y="3771900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eft Arrow 44"/>
          <p:cNvSpPr/>
          <p:nvPr/>
        </p:nvSpPr>
        <p:spPr>
          <a:xfrm>
            <a:off x="3929919" y="3671316"/>
            <a:ext cx="164592" cy="201168"/>
          </a:xfrm>
          <a:prstGeom prst="lef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12799" y="3552444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     draft answer + tool calls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929919" y="4036422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ight Arrow 47"/>
          <p:cNvSpPr/>
          <p:nvPr/>
        </p:nvSpPr>
        <p:spPr>
          <a:xfrm>
            <a:off x="9541135" y="3935838"/>
            <a:ext cx="164592" cy="201168"/>
          </a:xfrm>
          <a:prstGeom prst="righ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975639" y="3816966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6  execute tool (MCP · impact class)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9919" y="4300945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Left Arrow 50"/>
          <p:cNvSpPr/>
          <p:nvPr/>
        </p:nvSpPr>
        <p:spPr>
          <a:xfrm>
            <a:off x="3929919" y="4200361"/>
            <a:ext cx="164592" cy="201168"/>
          </a:xfrm>
          <a:prstGeom prst="lef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12799" y="4081489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     tool result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929919" y="4565468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ight Arrow 53"/>
          <p:cNvSpPr/>
          <p:nvPr/>
        </p:nvSpPr>
        <p:spPr>
          <a:xfrm>
            <a:off x="10985087" y="446488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975639" y="4346012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7  verify (ground · cite · policy)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29919" y="4829991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Left Arrow 56"/>
          <p:cNvSpPr/>
          <p:nvPr/>
        </p:nvSpPr>
        <p:spPr>
          <a:xfrm>
            <a:off x="3929919" y="472940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112799" y="4610535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     verdict + citations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485967" y="5094514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2485967" y="4993930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668847" y="4875058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8  final response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42015" y="5359037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 Arrow 62"/>
          <p:cNvSpPr/>
          <p:nvPr/>
        </p:nvSpPr>
        <p:spPr>
          <a:xfrm>
            <a:off x="1042015" y="5258453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224895" y="5139581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9  stream response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Sequence diagram · not a layered stack. Every arrow is a hop, a timeout, a retry, an SLO. Solid arrow = call ·  return arrow =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Four trust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request crosses four boundaries. Each has its own attackers, controls, and failure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168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L0 Channel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3321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L1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94962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L2 Orch.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603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L3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243" y="1463040"/>
            <a:ext cx="1218488" cy="64008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4A1E5C"/>
                </a:solidFill>
                <a:latin typeface="Segoe UI"/>
              </a:rPr>
              <a:t>L6 Model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1463040"/>
            <a:ext cx="1218488" cy="64008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5C4B"/>
                </a:solidFill>
                <a:latin typeface="Segoe UI"/>
              </a:rPr>
              <a:t>L7 Tool Router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1525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L8 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53166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L9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37744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TB-A · Edge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untrusted → trusted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37744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AuthN / AuthZ · WAF · rate limit · request validation · session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394710"/>
            <a:ext cx="2468880" cy="880110"/>
          </a:xfrm>
          <a:prstGeom prst="roundRect">
            <a:avLst/>
          </a:prstGeom>
          <a:solidFill>
            <a:srgbClr val="8E44AD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TB-C · Model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provider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394710"/>
            <a:ext cx="8991295" cy="88011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Model registry · egress policy · prompt-inject defence · content filters · cost cap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411980"/>
            <a:ext cx="2468880" cy="880110"/>
          </a:xfrm>
          <a:prstGeom prst="roundRect">
            <a:avLst/>
          </a:prstGeom>
          <a:solidFill>
            <a:srgbClr val="16A08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TB-D · Action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reasoning → real world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4411980"/>
            <a:ext cx="8991295" cy="88011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Tool registry · impact class · argument guardrails · HITL approval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42925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TB-B · Response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542925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Output guardrails · verification verdict · PII redaction · citation ·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L9 · Verification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Verification ≠ evaluation. Every model output passes through this pipeline before it reaches the 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Grounding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Is every claim supported by retrieved context?</a:t>
            </a:r>
          </a:p>
        </p:txBody>
      </p:sp>
      <p:sp>
        <p:nvSpPr>
          <p:cNvPr id="8" name="Oval 7"/>
          <p:cNvSpPr/>
          <p:nvPr/>
        </p:nvSpPr>
        <p:spPr>
          <a:xfrm>
            <a:off x="429768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09662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655966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Citation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Are sources attached, valid, resolvable?</a:t>
            </a:r>
          </a:p>
        </p:txBody>
      </p:sp>
      <p:sp>
        <p:nvSpPr>
          <p:cNvPr id="11" name="Oval 10"/>
          <p:cNvSpPr/>
          <p:nvPr/>
        </p:nvSpPr>
        <p:spPr>
          <a:xfrm>
            <a:off x="2765694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45588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991892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Semantic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Does the answer address the actual question?</a:t>
            </a:r>
          </a:p>
        </p:txBody>
      </p:sp>
      <p:sp>
        <p:nvSpPr>
          <p:cNvPr id="14" name="Oval 13"/>
          <p:cNvSpPr/>
          <p:nvPr/>
        </p:nvSpPr>
        <p:spPr>
          <a:xfrm>
            <a:off x="5101620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81514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327818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Constraint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Structural: schema · format · length · language.</a:t>
            </a:r>
          </a:p>
        </p:txBody>
      </p:sp>
      <p:sp>
        <p:nvSpPr>
          <p:cNvPr id="17" name="Oval 16"/>
          <p:cNvSpPr/>
          <p:nvPr/>
        </p:nvSpPr>
        <p:spPr>
          <a:xfrm>
            <a:off x="7437546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7440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663744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Execution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Generated code / SQL executes without harm.</a:t>
            </a:r>
          </a:p>
        </p:txBody>
      </p:sp>
      <p:sp>
        <p:nvSpPr>
          <p:cNvPr id="20" name="Oval 19"/>
          <p:cNvSpPr/>
          <p:nvPr/>
        </p:nvSpPr>
        <p:spPr>
          <a:xfrm>
            <a:off x="9773472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Enterprise policy · role · jurisdiction · data class.</a:t>
            </a:r>
          </a:p>
        </p:txBody>
      </p:sp>
      <p:sp>
        <p:nvSpPr>
          <p:cNvPr id="22" name="Oval 21"/>
          <p:cNvSpPr/>
          <p:nvPr/>
        </p:nvSpPr>
        <p:spPr>
          <a:xfrm>
            <a:off x="429768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09662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55966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Safety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Toxicity · self-harm · CSAM · disallowed content.</a:t>
            </a:r>
          </a:p>
        </p:txBody>
      </p:sp>
      <p:sp>
        <p:nvSpPr>
          <p:cNvPr id="25" name="Oval 24"/>
          <p:cNvSpPr/>
          <p:nvPr/>
        </p:nvSpPr>
        <p:spPr>
          <a:xfrm>
            <a:off x="2765694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845588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991892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Business Rules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Pricing · discount · escalation · SLA guardrails.</a:t>
            </a:r>
          </a:p>
        </p:txBody>
      </p:sp>
      <p:sp>
        <p:nvSpPr>
          <p:cNvPr id="28" name="Oval 27"/>
          <p:cNvSpPr/>
          <p:nvPr/>
        </p:nvSpPr>
        <p:spPr>
          <a:xfrm>
            <a:off x="5101620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81514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327818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Confidence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Calibrated uncertainty score · abstain threshold.</a:t>
            </a:r>
          </a:p>
        </p:txBody>
      </p:sp>
      <p:sp>
        <p:nvSpPr>
          <p:cNvPr id="31" name="Oval 30"/>
          <p:cNvSpPr/>
          <p:nvPr/>
        </p:nvSpPr>
        <p:spPr>
          <a:xfrm>
            <a:off x="7437546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517440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663744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Approval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HITL for high-impact · async review queue.</a:t>
            </a:r>
          </a:p>
        </p:txBody>
      </p:sp>
      <p:sp>
        <p:nvSpPr>
          <p:cNvPr id="34" name="Oval 33"/>
          <p:cNvSpPr/>
          <p:nvPr/>
        </p:nvSpPr>
        <p:spPr>
          <a:xfrm>
            <a:off x="9773472" y="3410711"/>
            <a:ext cx="713232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667115" y="34289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 flipH="1">
            <a:off x="1423995" y="3657599"/>
            <a:ext cx="9343704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wn Arrow 36"/>
          <p:cNvSpPr/>
          <p:nvPr/>
        </p:nvSpPr>
        <p:spPr>
          <a:xfrm>
            <a:off x="1323411" y="36575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Any stage may VETO · abstain · escalate to HITL · downgrade confidence · request re-generation.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Control · Data · Management planes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Enterprise AI has three planes — just like Kubernetes. Confusing them is how governance, cost and reliability go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3728618" cy="4937760"/>
          </a:xfrm>
          <a:prstGeom prst="round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1B2A3A"/>
                </a:solidFill>
                <a:latin typeface="Segoe UI"/>
              </a:rPr>
              <a:t>Control Plane</a:t>
            </a:r>
          </a:p>
          <a:p>
            <a:pPr algn="l"/>
            <a:r>
              <a:rPr sz="1100" i="1">
                <a:solidFill>
                  <a:srgbClr val="1B2A3A"/>
                </a:solidFill>
                <a:latin typeface="Segoe UI"/>
              </a:rPr>
              <a:t>Decides · governs · configures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Policy Engine (OPA · Cedar)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Configuration store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Workflow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Tool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Feature Flags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routing rules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Rate-limit + quota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1538" y="1417320"/>
            <a:ext cx="3728618" cy="493776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0B5C4B"/>
                </a:solidFill>
                <a:latin typeface="Segoe UI"/>
              </a:rPr>
              <a:t>Data Plane</a:t>
            </a:r>
          </a:p>
          <a:p>
            <a:pPr algn="l"/>
            <a:r>
              <a:rPr sz="1100" i="1">
                <a:solidFill>
                  <a:srgbClr val="0B5C4B"/>
                </a:solidFill>
                <a:latin typeface="Segoe UI"/>
              </a:rPr>
              <a:t>Runs · executes · serves traffic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Prompts &amp; context assembly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Embeddings &amp; retrieval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Model inference calls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executions (MCP)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Verification checkers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Guardrail evaluators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Streaming responses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Cache reads / writes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Event bus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3036" y="1417320"/>
            <a:ext cx="3728618" cy="4937760"/>
          </a:xfrm>
          <a:prstGeom prst="roundRect">
            <a:avLst/>
          </a:prstGeom>
          <a:solidFill>
            <a:srgbClr val="FFF6E5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5A4200"/>
                </a:solidFill>
                <a:latin typeface="Segoe UI"/>
              </a:rPr>
              <a:t>Management Plane</a:t>
            </a:r>
          </a:p>
          <a:p>
            <a:pPr algn="l"/>
            <a:r>
              <a:rPr sz="1100" i="1">
                <a:solidFill>
                  <a:srgbClr val="5A4200"/>
                </a:solidFill>
                <a:latin typeface="Segoe UI"/>
              </a:rPr>
              <a:t>Observes · pays · improves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CI / CD pipelines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OpenTelemetry traces &amp; metrics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Cost dashboards &amp; budgets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Alerting &amp; on-call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Governance &amp; audit logs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Compliance evidence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LLMOps eval &amp; 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Incident response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Capacity + quota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Platform services  ·  the middle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Between the AI reasoning layer and cloud infrastructure sits a platform layer of shared, stateful services. Enterprise AI stands or falls on this middle.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L11 Cache Manager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Prompt · semantic · embedding
memory · response caches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Kafka / Event Bus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Async pipelines · streaming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Scheduler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Cron · workflows · DAGs · Airflow / Argo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Configuration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App Config · Consul · git-versioned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121152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Secrets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Key Vault · Vault · KMS · rotation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947" y="3121152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Feature Flags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Progressive delivery · kill-switches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855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Workflow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Named agents · SOPs · replayable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763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Prompt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Versioned prompts · A/B · rollback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824984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 Engine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OPA · Cedar · content + tool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9947" y="4824984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Artifact Registry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Signed containers · SBOM · attestations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9855" y="4824984"/>
            <a:ext cx="2791891" cy="1575816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Model Registry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Foundation · fine-tuned · shadow · prod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9763" y="4824984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Tool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MCP servers · impact class · rate 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Deployment view  ·  physical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Logical architecture ≠ deployment architecture. Here is what actually runs, autoscales and pages someone at 3 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Internet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3643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39947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Front Door / CDN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3551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159855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 · Bot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33459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079763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Private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48840"/>
            <a:ext cx="11551615" cy="2194560"/>
          </a:xfrm>
          <a:prstGeom prst="roundRect">
            <a:avLst/>
          </a:prstGeom>
          <a:solidFill>
            <a:srgbClr val="F7F9FC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tIns="91440" rIns="137160" bIns="91440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AKS  ·  Container Apps  ·  (or  ECS · GKE · K8s)   —   HPA + KEDA + GPU scheduler + PodDisruptionBudget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2167676" cy="15087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Gateway pods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sidecar
5–50 replicas
HPA on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4604" y="2651760"/>
            <a:ext cx="2167676" cy="15087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Orchestrator pods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Container Apps
3–30 replicas
HPA on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009" y="2651760"/>
            <a:ext cx="2167676" cy="15087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Agent workers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GPU nodepool
2–20 replicas
KEDA on Kafka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9413" y="2651760"/>
            <a:ext cx="2167676" cy="15087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 executors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Sandboxed
5–30 replicas
rate limited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818" y="2651760"/>
            <a:ext cx="2167676" cy="15087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Verifier pods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CPU nodepool
3–15 replicas
HPA on backlog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Redis Enterprise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cache + rate-limit
zone-redundant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645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Qdrant / AI Search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vector index
replicated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13250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Cosmos DB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session + memory
multi-region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9855" y="4617720"/>
            <a:ext cx="1818589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Azure OpenAI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AOAI · Foundry
provisioned + PAYG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4617720"/>
            <a:ext cx="1818589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Blob Storage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docs · attachments
lifecycle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3065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Collector →
App Insights / Grafana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Same shape on AWS (EKS + ElastiCache + OpenSearch + Bedrock + S3 + CloudWatch) and GCP (GKE + Memorystore + Vertex + GCS + Cloud Ops).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L12 · LLMOps &amp;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Traditional CI/CD is not enough. LLMOps adds prompt tests, eval gates, model registry, canary + shadow, cost guardrails.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200595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Git / Repo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Prompts · agents · tools · IaC · eval sets
versioned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7795" y="1280160"/>
            <a:ext cx="2200595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CI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Lint · sec-scan · unit · prompt tests
safety tests · eval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5550" y="1280160"/>
            <a:ext cx="2200595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Artefact Registry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Signed containers · pinned models
prompt versions · SBOM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280160"/>
            <a:ext cx="2200595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CD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Blue / Green · Canary · Shadow
Rollback · progressive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71060" y="1280160"/>
            <a:ext cx="2200595" cy="12801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Runtime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Continuous eval · drift · cost cap
incident + rollback triggers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63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839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9614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3390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0040" y="3017520"/>
            <a:ext cx="3759098" cy="23774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Prompt lifecycle</a:t>
            </a:r>
          </a:p>
          <a:p>
            <a:pPr algn="l"/>
            <a:r>
              <a:rPr sz="1000" i="1">
                <a:solidFill>
                  <a:srgbClr val="1B2A3A"/>
                </a:solidFill>
                <a:latin typeface="Segoe UI"/>
              </a:rPr>
              <a:t>Draft → Test → Approved → Prod → Deprecated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Versioned prompt templates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tests + regression suite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 as source of truth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rollback independent of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98" y="3017520"/>
            <a:ext cx="3759098" cy="23774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4A1E5C"/>
                </a:solidFill>
                <a:latin typeface="Segoe UI"/>
              </a:rPr>
              <a:t>Model lifecycle</a:t>
            </a:r>
          </a:p>
          <a:p>
            <a:pPr algn="l"/>
            <a:r>
              <a:rPr sz="1000" i="1">
                <a:solidFill>
                  <a:srgbClr val="4A1E5C"/>
                </a:solidFill>
                <a:latin typeface="Segoe UI"/>
              </a:rPr>
              <a:t>Candidate → Shadow → Canary → Prod → Retired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Model registry (foundation + fine-tuned)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Approved providers only (TB-C)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Cost + latency + safety benchmarks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Shadow traffic for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556" y="3017520"/>
            <a:ext cx="3759098" cy="23774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Tool lifecycle</a:t>
            </a:r>
          </a:p>
          <a:p>
            <a:pPr algn="l"/>
            <a:r>
              <a:rPr sz="1000" i="1">
                <a:solidFill>
                  <a:srgbClr val="0B5C4B"/>
                </a:solidFill>
                <a:latin typeface="Segoe UI"/>
              </a:rPr>
              <a:t>Onboarded → Restricted → GA → Deprecated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registry with impact class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Argument guardrails per tool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HITL approval for high-impact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Audit + rate limit per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Cloud implementations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Same 16 layers. Four independent mappings. Vendor-neutral by 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791891" cy="5120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3D91"/>
                </a:solidFill>
                <a:latin typeface="Segoe UI"/>
              </a:rPr>
              <a:t>Microsoft Azure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Front Door · Entra ID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Container Apps · Durable Fn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AI Search · Cosmos Gremlin · Fabric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Azure OpenAI · AI Foundry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Logic Apps · MCP on ACA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App Insights · Azure Monitor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Entra · Key Vault · Purview · Defender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Purview · Azure Policy · Foundry gov.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280160"/>
            <a:ext cx="2791891" cy="51206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5C4B"/>
                </a:solidFill>
                <a:latin typeface="Segoe UI"/>
              </a:rPr>
              <a:t>Amazon AWS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CloudFront · WAF · API Gateway · Cognito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ECS / Fargate · Step Functions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OpenSearch · Neptune · Athena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Bedrock · SageMaker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API Gateway · Lambda · MCP on ECS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CloudWatch · X-Ray · OTel Collector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IAM · KMS · Secrets Manager · Macie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Config · Audit Manager · Bedrock Guardrails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280160"/>
            <a:ext cx="2791891" cy="51206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4A1E5C"/>
                </a:solidFill>
                <a:latin typeface="Segoe UI"/>
              </a:rPr>
              <a:t>Google Cloud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LB · Cloud Armor · API Gateway · IAP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Run · Workflows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Search · Spanner Graph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· Gemini · Model Garden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API Gateway · Cloud Functions · MCP on Run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Ops Suite · OTel Collector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IAM · KMS · Secret Manager · SCC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Assured Workloads · Vertex Model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280160"/>
            <a:ext cx="2791891" cy="51206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1B2A3A"/>
                </a:solidFill>
                <a:latin typeface="Segoe UI"/>
              </a:rPr>
              <a:t>Open Source / K8s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Envoy · Kong · Keycloak · OIDC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K8s + Argo Workflows · LangGraph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Qdrant · Weaviate · pgvector · Neo4j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vLLM · Ollama · TGI · TorchServe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MCP servers · custom adapters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OTel · Prometheus · Grafana · Tempo · Loki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SPIFFE · Vault · Falco · Kyverno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OPA / Gatekeeper · Kyverno · Sigstore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Standards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EASRA maps explicitly to the frameworks your compliance, security and risk teams already recognise.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NIST AI RMF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Govern · Map · Measure · Manage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Governance · L10 Observability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5946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ISO / IEC 42001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AI management system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· L12 LLMOps · L15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9090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EU AI Act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Risk categorisation + provider duties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L14 · L9 Verification · L13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522351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OWASP LLM Top 10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LLM-specific application risks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L6 · L7 · L8 · L9 · L11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2801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MITRE ATLAS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Adversary tactics + techniques for AI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L8 Guardrails · L13 · L14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2594610"/>
            <a:ext cx="5684367" cy="117729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1050" i="1">
                <a:solidFill>
                  <a:srgbClr val="5A4200"/>
                </a:solidFill>
                <a:latin typeface="Segoe UI"/>
              </a:rPr>
              <a:t>Traces / metrics / logs schema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Mapped in EASRA at:  L10 Observability across every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3909060"/>
            <a:ext cx="5684367" cy="117729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Model Context Protocol (MCP)</a:t>
            </a:r>
          </a:p>
          <a:p>
            <a:pPr algn="l"/>
            <a:r>
              <a:rPr sz="1050" i="1">
                <a:solidFill>
                  <a:srgbClr val="0B5C4B"/>
                </a:solidFill>
                <a:latin typeface="Segoe UI"/>
              </a:rPr>
              <a:t>Standardised tool interface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Mapped in EASRA at:  L7 Tooling &amp;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2235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TOGAF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Enterprise architecture context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Positions EASRA as an AI-domain reference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Architecture Decision Records (ADRs)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consequential architectural choice in EASRA is recorded as an ADR. Not a deliverable — a first-class artefact of the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960120" cy="908913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17320"/>
            <a:ext cx="4632807" cy="908913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Verification is separate from Evaluation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Runtime verifiers vs. offline eval — different lifecycles, different owners.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435961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435961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Memory is externalised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Compute stays stateless. Sessions, profiles, episodic memory live outside.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54603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454603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Prompt Registry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Prompts are versioned code, not literals — enables A/B, rollback, audit.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473244"/>
            <a:ext cx="960120" cy="908913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3244"/>
            <a:ext cx="4632807" cy="908913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4A1E5C"/>
                </a:solidFill>
                <a:latin typeface="Segoe UI"/>
              </a:rPr>
              <a:t>AI Gateway is separate from API Gateway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Model routing, token budgets, retries, circuit breakers ≠ HTTP concerns.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5491886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91886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Tool Registry with impact class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Every tool has an impact class; HITL for high-impact; audit for 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1417320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1417320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Cache Manager is centralised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One component for prompt · semantic · embedding · memory · response caches.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35961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8847" y="2435961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Async work uses an Event Bus, not sync calls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Batch, embedding, re-index, long-running agents — Kafka / Event Hub.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454603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38847" y="3454603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Control / Data / Management planes are separated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Governance, runtime and operations scale independently.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4473244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4473244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Standards are mapped, not replaced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NIST · ISO 42001 · EU AI Act · OWASP LLM · MITRE ATLAS — complements, doesn’t compete.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491886"/>
            <a:ext cx="960120" cy="908913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38847" y="5491886"/>
            <a:ext cx="4632807" cy="908913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Dual license: CC-BY-4.0 docs · Apache-2.0 code</a:t>
            </a:r>
          </a:p>
          <a:p>
            <a:pPr algn="l"/>
            <a:r>
              <a:rPr sz="1050">
                <a:solidFill>
                  <a:srgbClr val="0B3D91"/>
                </a:solidFill>
                <a:latin typeface="Segoe UI"/>
              </a:rPr>
              <a:t>Docs freely adaptable; code freely usable in commercial products.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ADRs live under docs/adr/. Each one has context · decision · consequences · status · date.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B7DDD"/>
                </a:solidFill>
                <a:latin typeface="Segoe UI"/>
              </a:rPr>
              <a:t>ADOPT · CONTRIBUTE · FORK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EASRA is an open architecture standard.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B8CDEA"/>
                </a:solidFill>
                <a:latin typeface="Segoe UI"/>
              </a:rPr>
              <a:t>Vendor-neutral. Standards-aligned. Verifiable. Yours to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★ Star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github.com/KarthikeyanDhanakotti/EASRA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Fork &amp; Adopt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templates/repository-template/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Contribute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CONTRIBUTING.md  ·  GOVERNANCE.md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Follow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linkedin.com/in/karthikeyan-dhanakotti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Enterprise AI Architect  ·  Independent open-source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